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1: Cover]
Xin chào tất cả các bạn! Chào mừng các bạn đến với webinar hôm nay: "AI-Enhanced CI/CD &amp; DevOps with GitHub Actions".
Mình là [Tên speaker], và hôm nay chúng ta sẽ cùng nhau tìm hiểu một trong những kỹ năng quan trọng nhất mà một developer cần có khi đi làm thực tế — đó là tự động hóa quá trình deploy code.
Buổi hôm nay mình sẽ đi theo phong cách "học bằng cách làm" — tức là có demo thực tế, có code thật, chứ không chỉ slide với chữ. Các bạn cứ thoải mái đặt câu hỏi trong chat nhé.
Let's get started!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2: Agenda]
Đây là roadmap của chúng ta hôm nay. Tổng cộng khoảng 80 phút.
Mình sẽ bắt đầu với phần nền tảng — vì mình biết nhiều bạn đã nghe qua CI/CD nhưng vẫn còn mơ hồ về định nghĩa thật sự của nó. Không sao cả, đó là lý do chúng ta có nhau ở đây.
Sau đó chúng ta sẽ đi vào thực hành với GitHub Actions, setup deploy thực tế lên Vercel và Render, và cuối cùng xem AI có thể giúp mình làm việc thông minh hơn như thế nào.
Có hai demo live trong buổi hôm nay — các bạn sẽ thấy code chạy thật, không phải screenshot.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3: DevOps &amp; CI/CD là gì?]
Trước khi đụng vào code, mình muốn chắc chắn tất cả mọi người đều có cùng một nền tảng khái niệm.
DevOps KHÔNG phải là một công cụ hay một platform. DevOps là văn hóa — là cách Dev (developer) và Ops (operations/system admin) làm việc cùng nhau, liên tục, thay vì dev code xong "ném qua tường" cho ops tự xử lý.
CI — Continuous Integration — nghĩa là mỗi khi một developer push code lên repo, hệ thống tự động chạy tests để kiểm tra code đó có bị lỗi không. Tự động hoàn toàn, không cần ai làm thủ công.
CD — Continuous Deployment — bước tiếp theo: sau khi CI pass, hệ thống tự động đưa code lên server production. Không cần ai manually SSH vào server để deploy nữa.
Hãy nghĩ về nó như dây chuyền sản xuất: mình đưa nguyên liệu (code) vào một đầu, toàn bộ quy trình chạy tự động, và sản phẩm (app đang chạy) ra ở đầu kia.
Vòng lặp ở cuối slide là vòng lặp DevOps: Code → Push → Test → Build → Deploy → Monitor → và lại Code tiếp. Vô hạn lần. Mỗi ngày.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4: GitHub Actions Anatomy]
Okay, bây giờ chúng ta vào phần GitHub Actions. Đây là công cụ CI/CD được tích hợp sẵn trong GitHub, miễn phí cho public repos, và rất mạnh.
Mọi thứ trong GitHub Actions được định nghĩa trong file YAML, đặt ở đường dẫn .github/workflows/ trong repo của bạn. Một repo có thể có nhiều file workflow.
4 khái niệm cốt lõi:
- WORKFLOW: Toàn bộ quy trình tự động hóa. Một file YAML = một workflow.
- TRIGGER (on:): Điều kiện kích hoạt workflow. Ví dụ: khi push lên main, khi tạo Pull Request, hoặc theo lịch.
- JOB: Một tập hợp các bước chạy trên cùng một máy (runner). Nhiều jobs có thể chạy song song.
- STEP: Một bước cụ thể trong job. Có thể là chạy lệnh shell, hoặc dùng một Action từ Marketplace.
Về phía phải, mình có 3 khái niệm quan trọng khác:
- RUNNER: Máy ảo do GitHub cung cấp miễn phí. Bạn chọn ubuntu-latest là có ngay một máy Linux sạch để chạy code.
- ACTION: Code tái sử dụng được. Thay vì tự viết script cài Node.js, bạn dùng actions/setup-node có sẵn.
- SECRETS: Cách lưu trữ API keys, tokens an toàn. KHÔNG BAO GIỜ hardcode vào file YAML!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5: Demo 1 – YAML Workflow]
Đây là lúc mình mở VS Code và demo live. Nhưng trên slide, mình sẽ walk through file YAML này để các bạn hiểu từng phần.
Dòng đầu tiên: name — đơn giản là tên workflow, hiển thị trên tab Actions của GitHub.
Phần "on:" — đây là trigger. Mình cấu hình "chạy khi có push lên main HOẶC khi có pull request vào main". Đây là pattern phổ biến nhất.
Phần "jobs:" — mình tạo một job tên là "test". "runs-on: ubuntu-latest" có nghĩa là GitHub sẽ cung cấp một máy Ubuntu sạch cho mình, miễn phí.
Trong phần "steps:":
- actions/checkout@v4: tải code của mình về máy runner
- actions/setup-node@v4: cài Node.js version 20 lên máy runner
- npm ci: cài dependencies (nhanh hơn npm install, dùng package-lock.json)
- npm test: chạy tests
- npm run build: build app
Nếu bất kỳ bước nào fail, workflow dừng lại và GitHub sẽ báo đỏ. Mình sẽ show cái này trong demo live.
[DEMO LIVE]: Commit code sai → push → show GitHub Actions tab → workflow fail đỏ → fix → push lại → xanh.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6: Deploy Architecture]
Bây giờ là phần các bạn đang chờ đợi — deploy thực tế!
Kiến trúc như diagram ở đây: Developer push code → GitHub nhận → GitHub Actions kích hoạt CI pipeline → test và build → nếu pass:
- Vercel TỰ ĐỘNG detect và deploy FE (React/Next.js)
- GitHub Actions GỌI Render Deploy Hook để trigger BE deploy
Vercel rất thông minh — bạn chỉ cần connect repo, nó tự biết bạn dùng React hay Next.js và cấu hình build command phù hợp. Mỗi PR tạo ra một preview URL riêng để test.
Render thì khác một chút — Render không tự deploy khi GitHub Actions pass. Thay vào đó, mình dùng "Deploy Hook" — một URL đặc biệt, khi mình gọi HTTP POST vào URL đó, Render sẽ deploy. Và mình cấu hình GitHub Actions để gọi URL này sau khi test pass.
Cách setup:
1. Vercel: connect GitHub repo → VERCEL_TOKEN → thêm vào GitHub Secrets
2. Render: tạo Web Service → vào Settings → Deploy Hooks → copy URL → lưu vào GitHub Secrets với tên RENDER_DEPLOY_HOOK
3. Trong file workflow YAML, thêm bước: curl -X POST RENDER_DEPLOY_HOOK secret
[DEMO LIVE]: Show render deploy hooks, show github secrets, show kết quả trên actions tab.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7: Demo 2 – Full Pipeline]
Bây giờ mình kết hợp tất cả lại. Đây là file workflow hoàn chỉnh với 2 jobs: test và deploy.
Key insight: "needs: test" và "if: success()" — job deploy CHỈ chạy nếu job test pass hoàn toàn. Nếu test fail, Render và Vercel không bị đụng đến. Đây là safety net quan trọng nhất!
Flow hoàn chỉnh:
1. Developer push code lên main
2. GitHub Actions kích hoạt, job "test" chạy
3. Nếu test xanh → job "deploy" bắt đầu
4. Step đầu: curl POST vào Render Deploy Hook → Render kéo code mới và deploy BE
5. Step tiếp: vercel-action deploy FE lên Vercel production
Toàn bộ quá trình này mất khoảng 3-5 phút. Và developer không cần làm gì ngoài việc push code.
[DEMO LIVE]: Push một commit có test pass → show GitHub Actions tab → xem cả hai jobs chạy → check Render dashboard → check Vercel dashboard → app live!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8: AI-Enhanced CI/CD]
Đây là phần "AI" trong title của webinar hôm nay. Và mình muốn trả lời câu hỏi: AI giúp được gì thực sự trong CI/CD?
Thứ nhất: Sinh YAML. Thay vì nhớ syntax YAML từ đầu, các bạn có thể prompt AI: "Viết workflow GitHub Actions cho Node.js app, chạy npm test và deploy lên Render." AI sẽ ra một file YAML hoạt động được. Nhưng—và đây là điều quan trọng—các bạn phải ĐỌC HIỂU từng dòng. Không phải copy-paste blind. Nếu ai đó hỏi trong phỏng vấn, bạn phải giải thích được.
Thứ hai: Debug CI logs. Khi workflow bị đỏ, GitHub Actions có log rất dài và đôi khi khó đọc. Bạn copy paste log lỗi vào ChatGPT và hỏi "lỗi này nghĩa là gì?" — thường AI sẽ chỉ ra ngay vấn đề và cách fix. Cực kỳ hữu ích.
Thứ ba: Security. GitHub có CodeQL miễn phí — nó analyze code của bạn để phát hiện lỗ hổng bảo mật. Dependabot tự động tạo PR khi package có lỗ hổng CVE. Đây là AI/automation giúp bảo mật app của bạn mà không cần bạn tự check thủ công.
Thứ tư: GitHub Copilot gợi ý unit tests từ code của bạn. Bạn viết function, Copilot đề xuất test cases. Không perfect nhưng là điểm khởi đầu tốt.
Thông điệp chính: AI là công cụ, không phải thần thánh. Dùng AI để làm việc THÔNG MINH HƠN, không phải để TỰ LÀMMÌNH KHÔNG CẦN HIỂU.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9: Best Practices &amp; Example Repos]
Phần cuối trước Q&amp;A — một vài best practices quan trọng.
Secrets hygiene: Đây là lỗi mình thấy sinh viên hay mắc phải nhất. KHÔNG ĐƯỢC hardcode API key trong code. Khi bạn push lên GitHub public repo, cả thế giới thấy key đó. Dùng GitHub Secrets.
Test trước, deploy sau: Nếu bạn chưa có tests, đừng setup CD tự động lên production. CI (chạy test) thì okay, nhưng tự động deploy khi chưa có tests là nguy hiểm.
Cache dependencies: Thêm actions/cache vào workflow giúp pipeline nhanh hơn đáng kể. node_modules không cần install lại mỗi lần nếu package.json không thay đổi.
Branch strategy: main = production. Không bao giờ code trực tiếp trên main. Tạo feature branch, làm xong thì PR.
Về example repos — mình đã tìm 3 repos tốt để các bạn tham khảo:
1. Repo của prashant1879: workflow YAML hoàn chỉnh cho Node.js + Vercel
2. Repo của GU-Web-Dev-2024: cấu trúc fullstack React + Express chuẩn
3. Repo của elze: demo đơn giản nhất để bắt đầu
Và cuối cùng — hãy thêm vào CV của bạn: "Thiết lập CI/CD pipeline với GitHub Actions + Vercel/Render". Nhiều HR và technical interviewer rất ấn tượng với điều này vì nó cho thấy bạn không chỉ code, bạn biết quy trình phát triển phần mềm thực tế.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SCRIPT – Slide 10: Q&amp;A / Closing]
Trước khi mở Q&amp;A, để mình recap lại những điều quan trọng nhất hôm nay:
Một: DevOps là văn hóa cộng tác, không phải tool. CI/CD là vòng lặp tự động hóa giúp code đến tay user nhanh hơn, ít lỗi hơn.
Hai: GitHub Actions hoạt động qua file YAML trong .github/workflows/. Hiểu workflow, job, step, trigger, và secrets là đủ để bắt đầu.
Ba: Vercel tự động deploy FE khi có push. Render cần Deploy Hook từ GitHub Actions. Kết hợp lại thành một pipeline hoàn chỉnh.
Bốn: AI giúp bạn sinh code, debug lỗi nhanh hơn — nhưng bạn phải đọc hiểu output của AI trước khi dùng.
Mình đã chia sẻ link demo repos ở đây. Các bạn hãy fork về, chạy thử, và thực hành với project của mình.
Bây giờ mở câu hỏi! Bạn nào có câu hỏi gì về bất kỳ phần nào hôm nay không? Chat hoặc raise hand nhé.
[Sau Q&amp;A] Cảm ơn tất cả các bạn đã tham gia! Nếu có câu hỏi thêm sau buổi webinar, các bạn có thể ping mình qua [contact info]. Chúc các bạn setup CI/CD thành công cho project của mình!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C2CB"/>
          </a:solidFill>
          <a:ln/>
        </p:spPr>
      </p:sp>
      <p:sp>
        <p:nvSpPr>
          <p:cNvPr id="3" name="Shape 1"/>
          <p:cNvSpPr/>
          <p:nvPr/>
        </p:nvSpPr>
        <p:spPr>
          <a:xfrm>
            <a:off x="7132320" y="-1097280"/>
            <a:ext cx="3200400" cy="3200400"/>
          </a:xfrm>
          <a:prstGeom prst="ellipse">
            <a:avLst/>
          </a:prstGeom>
          <a:solidFill>
            <a:srgbClr val="1B2A3B"/>
          </a:solidFill>
          <a:ln w="12700">
            <a:solidFill>
              <a:srgbClr val="1B2A3B"/>
            </a:solidFill>
            <a:prstDash val="solid"/>
          </a:ln>
        </p:spPr>
      </p:sp>
      <p:sp>
        <p:nvSpPr>
          <p:cNvPr id="4" name="Shape 2"/>
          <p:cNvSpPr/>
          <p:nvPr/>
        </p:nvSpPr>
        <p:spPr>
          <a:xfrm>
            <a:off x="7589520" y="-640080"/>
            <a:ext cx="2286000" cy="2286000"/>
          </a:xfrm>
          <a:prstGeom prst="ellipse">
            <a:avLst/>
          </a:prstGeom>
          <a:solidFill>
            <a:srgbClr val="065A82"/>
          </a:solidFill>
          <a:ln w="12700">
            <a:solidFill>
              <a:srgbClr val="065A82"/>
            </a:solidFill>
            <a:prstDash val="solid"/>
          </a:ln>
        </p:spPr>
      </p:sp>
      <p:sp>
        <p:nvSpPr>
          <p:cNvPr id="5" name="Text 3"/>
          <p:cNvSpPr/>
          <p:nvPr/>
        </p:nvSpPr>
        <p:spPr>
          <a:xfrm>
            <a:off x="320040" y="502920"/>
            <a:ext cx="4572000" cy="320040"/>
          </a:xfrm>
          <a:prstGeom prst="rect">
            <a:avLst/>
          </a:prstGeom>
          <a:noFill/>
          <a:ln/>
        </p:spPr>
        <p:txBody>
          <a:bodyPr wrap="square" lIns="0" tIns="0" rIns="0" bIns="0" rtlCol="0" anchor="ctr"/>
          <a:lstStyle/>
          <a:p>
            <a:pPr indent="0" marL="0">
              <a:buNone/>
            </a:pPr>
            <a:r>
              <a:rPr lang="en-US" sz="1100" b="1" spc="500" kern="0" dirty="0">
                <a:solidFill>
                  <a:srgbClr val="00C2CB"/>
                </a:solidFill>
              </a:rPr>
              <a:t>WEBINAR</a:t>
            </a:r>
            <a:endParaRPr lang="en-US" sz="1100" dirty="0"/>
          </a:p>
        </p:txBody>
      </p:sp>
      <p:sp>
        <p:nvSpPr>
          <p:cNvPr id="6" name="Text 4"/>
          <p:cNvSpPr/>
          <p:nvPr/>
        </p:nvSpPr>
        <p:spPr>
          <a:xfrm>
            <a:off x="320040" y="914400"/>
            <a:ext cx="6400800" cy="1828800"/>
          </a:xfrm>
          <a:prstGeom prst="rect">
            <a:avLst/>
          </a:prstGeom>
          <a:noFill/>
          <a:ln/>
        </p:spPr>
        <p:txBody>
          <a:bodyPr wrap="square" lIns="0" tIns="0" rIns="0" bIns="0" rtlCol="0" anchor="ctr"/>
          <a:lstStyle/>
          <a:p>
            <a:pPr indent="0" marL="0">
              <a:lnSpc>
                <a:spcPct val="110000"/>
              </a:lnSpc>
              <a:buNone/>
            </a:pPr>
            <a:r>
              <a:rPr lang="en-US" sz="4400" b="1" dirty="0">
                <a:solidFill>
                  <a:srgbClr val="FFFFFF"/>
                </a:solidFill>
              </a:rPr>
              <a:t>AI-Enhanced</a:t>
            </a:r>
            <a:endParaRPr lang="en-US" sz="4400" dirty="0"/>
          </a:p>
          <a:p>
            <a:pPr indent="0" marL="0">
              <a:lnSpc>
                <a:spcPct val="110000"/>
              </a:lnSpc>
              <a:buNone/>
            </a:pPr>
            <a:r>
              <a:rPr lang="en-US" sz="4400" b="1" dirty="0">
                <a:solidFill>
                  <a:srgbClr val="FFFFFF"/>
                </a:solidFill>
              </a:rPr>
              <a:t>CI/CD &amp; DevOps</a:t>
            </a:r>
            <a:endParaRPr lang="en-US" sz="4400" dirty="0"/>
          </a:p>
        </p:txBody>
      </p:sp>
      <p:sp>
        <p:nvSpPr>
          <p:cNvPr id="7" name="Text 5"/>
          <p:cNvSpPr/>
          <p:nvPr/>
        </p:nvSpPr>
        <p:spPr>
          <a:xfrm>
            <a:off x="320040" y="2743200"/>
            <a:ext cx="5486400" cy="548640"/>
          </a:xfrm>
          <a:prstGeom prst="rect">
            <a:avLst/>
          </a:prstGeom>
          <a:noFill/>
          <a:ln/>
        </p:spPr>
        <p:txBody>
          <a:bodyPr wrap="square" lIns="0" tIns="0" rIns="0" bIns="0" rtlCol="0" anchor="ctr"/>
          <a:lstStyle/>
          <a:p>
            <a:pPr indent="0" marL="0">
              <a:buNone/>
            </a:pPr>
            <a:r>
              <a:rPr lang="en-US" sz="2600" dirty="0">
                <a:solidFill>
                  <a:srgbClr val="00C2CB"/>
                </a:solidFill>
              </a:rPr>
              <a:t>with GitHub Actions</a:t>
            </a:r>
            <a:endParaRPr lang="en-US" sz="2600" dirty="0"/>
          </a:p>
        </p:txBody>
      </p:sp>
      <p:sp>
        <p:nvSpPr>
          <p:cNvPr id="8" name="Shape 6"/>
          <p:cNvSpPr/>
          <p:nvPr/>
        </p:nvSpPr>
        <p:spPr>
          <a:xfrm>
            <a:off x="320040" y="4114800"/>
            <a:ext cx="6400800" cy="914"/>
          </a:xfrm>
          <a:prstGeom prst="rect">
            <a:avLst/>
          </a:prstGeom>
          <a:solidFill>
            <a:srgbClr val="2A3F55"/>
          </a:solidFill>
          <a:ln w="12700">
            <a:solidFill>
              <a:srgbClr val="2A3F55"/>
            </a:solidFill>
            <a:prstDash val="solid"/>
          </a:ln>
        </p:spPr>
      </p:sp>
      <p:sp>
        <p:nvSpPr>
          <p:cNvPr id="9" name="Text 7"/>
          <p:cNvSpPr/>
          <p:nvPr/>
        </p:nvSpPr>
        <p:spPr>
          <a:xfrm>
            <a:off x="320040" y="4206240"/>
            <a:ext cx="8229600" cy="320040"/>
          </a:xfrm>
          <a:prstGeom prst="rect">
            <a:avLst/>
          </a:prstGeom>
          <a:noFill/>
          <a:ln/>
        </p:spPr>
        <p:txBody>
          <a:bodyPr wrap="square" lIns="0" tIns="0" rIns="0" bIns="0" rtlCol="0" anchor="ctr"/>
          <a:lstStyle/>
          <a:p>
            <a:pPr indent="0" marL="0">
              <a:buNone/>
            </a:pPr>
            <a:r>
              <a:rPr lang="en-US" sz="1200" dirty="0">
                <a:solidFill>
                  <a:srgbClr val="6E8FAA"/>
                </a:solidFill>
              </a:rPr>
              <a:t>Vercel (FE)  ·  Render (BE)  ·  GitHub Actions  ·  AI Tools</a:t>
            </a:r>
            <a:endParaRPr lang="en-US" sz="1200" dirty="0"/>
          </a:p>
        </p:txBody>
      </p:sp>
      <p:pic>
        <p:nvPicPr>
          <p:cNvPr id="10" name="Image 0" descr="preencoded.png">    </p:cNvPr>
          <p:cNvPicPr>
            <a:picLocks noChangeAspect="1"/>
          </p:cNvPicPr>
          <p:nvPr/>
        </p:nvPicPr>
        <p:blipFill>
          <a:blip r:embed="rId1"/>
          <a:stretch>
            <a:fillRect/>
          </a:stretch>
        </p:blipFill>
        <p:spPr>
          <a:xfrm>
            <a:off x="8046720" y="201168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C2CB"/>
          </a:solidFill>
          <a:ln/>
        </p:spPr>
      </p:sp>
      <p:sp>
        <p:nvSpPr>
          <p:cNvPr id="3" name="Text 1"/>
          <p:cNvSpPr/>
          <p:nvPr/>
        </p:nvSpPr>
        <p:spPr>
          <a:xfrm>
            <a:off x="320040" y="320040"/>
            <a:ext cx="8229600" cy="457200"/>
          </a:xfrm>
          <a:prstGeom prst="rect">
            <a:avLst/>
          </a:prstGeom>
          <a:noFill/>
          <a:ln/>
        </p:spPr>
        <p:txBody>
          <a:bodyPr wrap="square" lIns="0" tIns="0" rIns="0" bIns="0" rtlCol="0" anchor="ctr"/>
          <a:lstStyle/>
          <a:p>
            <a:pPr indent="0" marL="0">
              <a:buNone/>
            </a:pPr>
            <a:r>
              <a:rPr lang="en-US" sz="1200" b="1" spc="400" kern="0" dirty="0">
                <a:solidFill>
                  <a:srgbClr val="00C2CB"/>
                </a:solidFill>
              </a:rPr>
              <a:t>NỘI DUNG HÔM NAY</a:t>
            </a:r>
            <a:endParaRPr lang="en-US" sz="1200" dirty="0"/>
          </a:p>
        </p:txBody>
      </p:sp>
      <p:sp>
        <p:nvSpPr>
          <p:cNvPr id="4" name="Text 2"/>
          <p:cNvSpPr/>
          <p:nvPr/>
        </p:nvSpPr>
        <p:spPr>
          <a:xfrm>
            <a:off x="320040" y="685800"/>
            <a:ext cx="4572000" cy="594360"/>
          </a:xfrm>
          <a:prstGeom prst="rect">
            <a:avLst/>
          </a:prstGeom>
          <a:noFill/>
          <a:ln/>
        </p:spPr>
        <p:txBody>
          <a:bodyPr wrap="square" lIns="0" tIns="0" rIns="0" bIns="0" rtlCol="0" anchor="ctr"/>
          <a:lstStyle/>
          <a:p>
            <a:pPr indent="0" marL="0">
              <a:buNone/>
            </a:pPr>
            <a:r>
              <a:rPr lang="en-US" sz="3200" b="1" dirty="0">
                <a:solidFill>
                  <a:srgbClr val="FFFFFF"/>
                </a:solidFill>
              </a:rPr>
              <a:t>Agenda</a:t>
            </a:r>
            <a:endParaRPr lang="en-US" sz="3200" dirty="0"/>
          </a:p>
        </p:txBody>
      </p:sp>
      <p:sp>
        <p:nvSpPr>
          <p:cNvPr id="5" name="Shape 3"/>
          <p:cNvSpPr/>
          <p:nvPr/>
        </p:nvSpPr>
        <p:spPr>
          <a:xfrm>
            <a:off x="320040" y="1417320"/>
            <a:ext cx="8503920" cy="594360"/>
          </a:xfrm>
          <a:prstGeom prst="rect">
            <a:avLst/>
          </a:prstGeom>
          <a:solidFill>
            <a:srgbClr val="065A82"/>
          </a:solidFill>
          <a:ln w="12700">
            <a:solidFill>
              <a:srgbClr val="00C2CB"/>
            </a:solidFill>
            <a:prstDash val="solid"/>
          </a:ln>
        </p:spPr>
      </p:sp>
      <p:sp>
        <p:nvSpPr>
          <p:cNvPr id="6" name="Shape 4"/>
          <p:cNvSpPr/>
          <p:nvPr/>
        </p:nvSpPr>
        <p:spPr>
          <a:xfrm>
            <a:off x="320040" y="1417320"/>
            <a:ext cx="502920" cy="594360"/>
          </a:xfrm>
          <a:prstGeom prst="rect">
            <a:avLst/>
          </a:prstGeom>
          <a:solidFill>
            <a:srgbClr val="00C2CB"/>
          </a:solidFill>
          <a:ln w="12700">
            <a:solidFill>
              <a:srgbClr val="00C2CB"/>
            </a:solidFill>
            <a:prstDash val="solid"/>
          </a:ln>
        </p:spPr>
      </p:sp>
      <p:sp>
        <p:nvSpPr>
          <p:cNvPr id="7" name="Text 5"/>
          <p:cNvSpPr/>
          <p:nvPr/>
        </p:nvSpPr>
        <p:spPr>
          <a:xfrm>
            <a:off x="320040" y="1508760"/>
            <a:ext cx="502920" cy="411480"/>
          </a:xfrm>
          <a:prstGeom prst="rect">
            <a:avLst/>
          </a:prstGeom>
          <a:noFill/>
          <a:ln/>
        </p:spPr>
        <p:txBody>
          <a:bodyPr wrap="square" lIns="0" tIns="0" rIns="0" bIns="0" rtlCol="0" anchor="ctr"/>
          <a:lstStyle/>
          <a:p>
            <a:pPr algn="ctr" indent="0" marL="0">
              <a:buNone/>
            </a:pPr>
            <a:r>
              <a:rPr lang="en-US" sz="1300" b="1" dirty="0">
                <a:solidFill>
                  <a:srgbClr val="0D1B2A"/>
                </a:solidFill>
              </a:rPr>
              <a:t>01</a:t>
            </a:r>
            <a:endParaRPr lang="en-US" sz="1300" dirty="0"/>
          </a:p>
        </p:txBody>
      </p:sp>
      <p:sp>
        <p:nvSpPr>
          <p:cNvPr id="8" name="Text 6"/>
          <p:cNvSpPr/>
          <p:nvPr/>
        </p:nvSpPr>
        <p:spPr>
          <a:xfrm>
            <a:off x="960120" y="1490472"/>
            <a:ext cx="5486400" cy="256032"/>
          </a:xfrm>
          <a:prstGeom prst="rect">
            <a:avLst/>
          </a:prstGeom>
          <a:noFill/>
          <a:ln/>
        </p:spPr>
        <p:txBody>
          <a:bodyPr wrap="square" lIns="0" tIns="0" rIns="0" bIns="0" rtlCol="0" anchor="ctr"/>
          <a:lstStyle/>
          <a:p>
            <a:pPr indent="0" marL="0">
              <a:buNone/>
            </a:pPr>
            <a:r>
              <a:rPr lang="en-US" sz="1400" b="1" dirty="0">
                <a:solidFill>
                  <a:srgbClr val="FFFFFF"/>
                </a:solidFill>
              </a:rPr>
              <a:t>DevOps &amp; CI/CD là gì?</a:t>
            </a:r>
            <a:endParaRPr lang="en-US" sz="1400" dirty="0"/>
          </a:p>
        </p:txBody>
      </p:sp>
      <p:sp>
        <p:nvSpPr>
          <p:cNvPr id="9" name="Text 7"/>
          <p:cNvSpPr/>
          <p:nvPr/>
        </p:nvSpPr>
        <p:spPr>
          <a:xfrm>
            <a:off x="960120" y="1746504"/>
            <a:ext cx="5943600" cy="201168"/>
          </a:xfrm>
          <a:prstGeom prst="rect">
            <a:avLst/>
          </a:prstGeom>
          <a:noFill/>
          <a:ln/>
        </p:spPr>
        <p:txBody>
          <a:bodyPr wrap="square" lIns="0" tIns="0" rIns="0" bIns="0" rtlCol="0" anchor="ctr"/>
          <a:lstStyle/>
          <a:p>
            <a:pPr indent="0" marL="0">
              <a:buNone/>
            </a:pPr>
            <a:r>
              <a:rPr lang="en-US" sz="1000" dirty="0">
                <a:solidFill>
                  <a:srgbClr val="6E8FAA"/>
                </a:solidFill>
              </a:rPr>
              <a:t>Nguyên lý, khái niệm nền tảng</a:t>
            </a:r>
            <a:endParaRPr lang="en-US" sz="1000" dirty="0"/>
          </a:p>
        </p:txBody>
      </p:sp>
      <p:sp>
        <p:nvSpPr>
          <p:cNvPr id="10" name="Text 8"/>
          <p:cNvSpPr/>
          <p:nvPr/>
        </p:nvSpPr>
        <p:spPr>
          <a:xfrm>
            <a:off x="7955280" y="1572768"/>
            <a:ext cx="822960" cy="274320"/>
          </a:xfrm>
          <a:prstGeom prst="rect">
            <a:avLst/>
          </a:prstGeom>
          <a:noFill/>
          <a:ln/>
        </p:spPr>
        <p:txBody>
          <a:bodyPr wrap="square" lIns="0" tIns="0" rIns="0" bIns="0" rtlCol="0" anchor="ctr"/>
          <a:lstStyle/>
          <a:p>
            <a:pPr algn="r" indent="0" marL="0">
              <a:buNone/>
            </a:pPr>
            <a:r>
              <a:rPr lang="en-US" sz="1100" b="1" dirty="0">
                <a:solidFill>
                  <a:srgbClr val="00C2CB"/>
                </a:solidFill>
              </a:rPr>
              <a:t>15 min</a:t>
            </a:r>
            <a:endParaRPr lang="en-US" sz="1100" dirty="0"/>
          </a:p>
        </p:txBody>
      </p:sp>
      <p:sp>
        <p:nvSpPr>
          <p:cNvPr id="11" name="Shape 9"/>
          <p:cNvSpPr/>
          <p:nvPr/>
        </p:nvSpPr>
        <p:spPr>
          <a:xfrm>
            <a:off x="320040" y="2121408"/>
            <a:ext cx="8503920" cy="594360"/>
          </a:xfrm>
          <a:prstGeom prst="rect">
            <a:avLst/>
          </a:prstGeom>
          <a:solidFill>
            <a:srgbClr val="1B2A3B"/>
          </a:solidFill>
          <a:ln w="12700">
            <a:solidFill>
              <a:srgbClr val="2A3F55"/>
            </a:solidFill>
            <a:prstDash val="solid"/>
          </a:ln>
        </p:spPr>
      </p:sp>
      <p:sp>
        <p:nvSpPr>
          <p:cNvPr id="12" name="Shape 10"/>
          <p:cNvSpPr/>
          <p:nvPr/>
        </p:nvSpPr>
        <p:spPr>
          <a:xfrm>
            <a:off x="320040" y="2121408"/>
            <a:ext cx="502920" cy="594360"/>
          </a:xfrm>
          <a:prstGeom prst="rect">
            <a:avLst/>
          </a:prstGeom>
          <a:solidFill>
            <a:srgbClr val="2A4A60"/>
          </a:solidFill>
          <a:ln w="12700">
            <a:solidFill>
              <a:srgbClr val="2A4A60"/>
            </a:solidFill>
            <a:prstDash val="solid"/>
          </a:ln>
        </p:spPr>
      </p:sp>
      <p:sp>
        <p:nvSpPr>
          <p:cNvPr id="13" name="Text 11"/>
          <p:cNvSpPr/>
          <p:nvPr/>
        </p:nvSpPr>
        <p:spPr>
          <a:xfrm>
            <a:off x="320040" y="2212848"/>
            <a:ext cx="502920" cy="411480"/>
          </a:xfrm>
          <a:prstGeom prst="rect">
            <a:avLst/>
          </a:prstGeom>
          <a:noFill/>
          <a:ln/>
        </p:spPr>
        <p:txBody>
          <a:bodyPr wrap="square" lIns="0" tIns="0" rIns="0" bIns="0" rtlCol="0" anchor="ctr"/>
          <a:lstStyle/>
          <a:p>
            <a:pPr algn="ctr" indent="0" marL="0">
              <a:buNone/>
            </a:pPr>
            <a:r>
              <a:rPr lang="en-US" sz="1300" b="1" dirty="0">
                <a:solidFill>
                  <a:srgbClr val="00C2CB"/>
                </a:solidFill>
              </a:rPr>
              <a:t>02</a:t>
            </a:r>
            <a:endParaRPr lang="en-US" sz="1300" dirty="0"/>
          </a:p>
        </p:txBody>
      </p:sp>
      <p:sp>
        <p:nvSpPr>
          <p:cNvPr id="14" name="Text 12"/>
          <p:cNvSpPr/>
          <p:nvPr/>
        </p:nvSpPr>
        <p:spPr>
          <a:xfrm>
            <a:off x="960120" y="2194560"/>
            <a:ext cx="5486400" cy="256032"/>
          </a:xfrm>
          <a:prstGeom prst="rect">
            <a:avLst/>
          </a:prstGeom>
          <a:noFill/>
          <a:ln/>
        </p:spPr>
        <p:txBody>
          <a:bodyPr wrap="square" lIns="0" tIns="0" rIns="0" bIns="0" rtlCol="0" anchor="ctr"/>
          <a:lstStyle/>
          <a:p>
            <a:pPr indent="0" marL="0">
              <a:buNone/>
            </a:pPr>
            <a:r>
              <a:rPr lang="en-US" sz="1400" b="1" dirty="0">
                <a:solidFill>
                  <a:srgbClr val="FFFFFF"/>
                </a:solidFill>
              </a:rPr>
              <a:t>GitHub Actions từ A→Z</a:t>
            </a:r>
            <a:endParaRPr lang="en-US" sz="1400" dirty="0"/>
          </a:p>
        </p:txBody>
      </p:sp>
      <p:sp>
        <p:nvSpPr>
          <p:cNvPr id="15" name="Text 13"/>
          <p:cNvSpPr/>
          <p:nvPr/>
        </p:nvSpPr>
        <p:spPr>
          <a:xfrm>
            <a:off x="960120" y="2450592"/>
            <a:ext cx="5943600" cy="201168"/>
          </a:xfrm>
          <a:prstGeom prst="rect">
            <a:avLst/>
          </a:prstGeom>
          <a:noFill/>
          <a:ln/>
        </p:spPr>
        <p:txBody>
          <a:bodyPr wrap="square" lIns="0" tIns="0" rIns="0" bIns="0" rtlCol="0" anchor="ctr"/>
          <a:lstStyle/>
          <a:p>
            <a:pPr indent="0" marL="0">
              <a:buNone/>
            </a:pPr>
            <a:r>
              <a:rPr lang="en-US" sz="1000" dirty="0">
                <a:solidFill>
                  <a:srgbClr val="6E8FAA"/>
                </a:solidFill>
              </a:rPr>
              <a:t>Workflow, job, step, secrets — YAML thực tế</a:t>
            </a:r>
            <a:endParaRPr lang="en-US" sz="1000" dirty="0"/>
          </a:p>
        </p:txBody>
      </p:sp>
      <p:sp>
        <p:nvSpPr>
          <p:cNvPr id="16" name="Text 14"/>
          <p:cNvSpPr/>
          <p:nvPr/>
        </p:nvSpPr>
        <p:spPr>
          <a:xfrm>
            <a:off x="7955280" y="2276856"/>
            <a:ext cx="822960" cy="274320"/>
          </a:xfrm>
          <a:prstGeom prst="rect">
            <a:avLst/>
          </a:prstGeom>
          <a:noFill/>
          <a:ln/>
        </p:spPr>
        <p:txBody>
          <a:bodyPr wrap="square" lIns="0" tIns="0" rIns="0" bIns="0" rtlCol="0" anchor="ctr"/>
          <a:lstStyle/>
          <a:p>
            <a:pPr algn="r" indent="0" marL="0">
              <a:buNone/>
            </a:pPr>
            <a:r>
              <a:rPr lang="en-US" sz="1100" b="1" dirty="0">
                <a:solidFill>
                  <a:srgbClr val="00C2CB"/>
                </a:solidFill>
              </a:rPr>
              <a:t>20 min</a:t>
            </a:r>
            <a:endParaRPr lang="en-US" sz="1100" dirty="0"/>
          </a:p>
        </p:txBody>
      </p:sp>
      <p:sp>
        <p:nvSpPr>
          <p:cNvPr id="17" name="Shape 15"/>
          <p:cNvSpPr/>
          <p:nvPr/>
        </p:nvSpPr>
        <p:spPr>
          <a:xfrm>
            <a:off x="320040" y="2825496"/>
            <a:ext cx="8503920" cy="594360"/>
          </a:xfrm>
          <a:prstGeom prst="rect">
            <a:avLst/>
          </a:prstGeom>
          <a:solidFill>
            <a:srgbClr val="1B2A3B"/>
          </a:solidFill>
          <a:ln w="12700">
            <a:solidFill>
              <a:srgbClr val="2A3F55"/>
            </a:solidFill>
            <a:prstDash val="solid"/>
          </a:ln>
        </p:spPr>
      </p:sp>
      <p:sp>
        <p:nvSpPr>
          <p:cNvPr id="18" name="Shape 16"/>
          <p:cNvSpPr/>
          <p:nvPr/>
        </p:nvSpPr>
        <p:spPr>
          <a:xfrm>
            <a:off x="320040" y="2825496"/>
            <a:ext cx="502920" cy="594360"/>
          </a:xfrm>
          <a:prstGeom prst="rect">
            <a:avLst/>
          </a:prstGeom>
          <a:solidFill>
            <a:srgbClr val="2A4A60"/>
          </a:solidFill>
          <a:ln w="12700">
            <a:solidFill>
              <a:srgbClr val="2A4A60"/>
            </a:solidFill>
            <a:prstDash val="solid"/>
          </a:ln>
        </p:spPr>
      </p:sp>
      <p:sp>
        <p:nvSpPr>
          <p:cNvPr id="19" name="Text 17"/>
          <p:cNvSpPr/>
          <p:nvPr/>
        </p:nvSpPr>
        <p:spPr>
          <a:xfrm>
            <a:off x="320040" y="2916936"/>
            <a:ext cx="502920" cy="411480"/>
          </a:xfrm>
          <a:prstGeom prst="rect">
            <a:avLst/>
          </a:prstGeom>
          <a:noFill/>
          <a:ln/>
        </p:spPr>
        <p:txBody>
          <a:bodyPr wrap="square" lIns="0" tIns="0" rIns="0" bIns="0" rtlCol="0" anchor="ctr"/>
          <a:lstStyle/>
          <a:p>
            <a:pPr algn="ctr" indent="0" marL="0">
              <a:buNone/>
            </a:pPr>
            <a:r>
              <a:rPr lang="en-US" sz="1300" b="1" dirty="0">
                <a:solidFill>
                  <a:srgbClr val="00C2CB"/>
                </a:solidFill>
              </a:rPr>
              <a:t>03</a:t>
            </a:r>
            <a:endParaRPr lang="en-US" sz="1300" dirty="0"/>
          </a:p>
        </p:txBody>
      </p:sp>
      <p:sp>
        <p:nvSpPr>
          <p:cNvPr id="20" name="Text 18"/>
          <p:cNvSpPr/>
          <p:nvPr/>
        </p:nvSpPr>
        <p:spPr>
          <a:xfrm>
            <a:off x="960120" y="2898648"/>
            <a:ext cx="5486400" cy="256032"/>
          </a:xfrm>
          <a:prstGeom prst="rect">
            <a:avLst/>
          </a:prstGeom>
          <a:noFill/>
          <a:ln/>
        </p:spPr>
        <p:txBody>
          <a:bodyPr wrap="square" lIns="0" tIns="0" rIns="0" bIns="0" rtlCol="0" anchor="ctr"/>
          <a:lstStyle/>
          <a:p>
            <a:pPr indent="0" marL="0">
              <a:buNone/>
            </a:pPr>
            <a:r>
              <a:rPr lang="en-US" sz="1400" b="1" dirty="0">
                <a:solidFill>
                  <a:srgbClr val="FFFFFF"/>
                </a:solidFill>
              </a:rPr>
              <a:t>Deploy: Vercel (FE) + Render (BE)</a:t>
            </a:r>
            <a:endParaRPr lang="en-US" sz="1400" dirty="0"/>
          </a:p>
        </p:txBody>
      </p:sp>
      <p:sp>
        <p:nvSpPr>
          <p:cNvPr id="21" name="Text 19"/>
          <p:cNvSpPr/>
          <p:nvPr/>
        </p:nvSpPr>
        <p:spPr>
          <a:xfrm>
            <a:off x="960120" y="3154680"/>
            <a:ext cx="5943600" cy="201168"/>
          </a:xfrm>
          <a:prstGeom prst="rect">
            <a:avLst/>
          </a:prstGeom>
          <a:noFill/>
          <a:ln/>
        </p:spPr>
        <p:txBody>
          <a:bodyPr wrap="square" lIns="0" tIns="0" rIns="0" bIns="0" rtlCol="0" anchor="ctr"/>
          <a:lstStyle/>
          <a:p>
            <a:pPr indent="0" marL="0">
              <a:buNone/>
            </a:pPr>
            <a:r>
              <a:rPr lang="en-US" sz="1000" dirty="0">
                <a:solidFill>
                  <a:srgbClr val="6E8FAA"/>
                </a:solidFill>
              </a:rPr>
              <a:t>Kiến trúc + deploy hook pipeline</a:t>
            </a:r>
            <a:endParaRPr lang="en-US" sz="1000" dirty="0"/>
          </a:p>
        </p:txBody>
      </p:sp>
      <p:sp>
        <p:nvSpPr>
          <p:cNvPr id="22" name="Text 20"/>
          <p:cNvSpPr/>
          <p:nvPr/>
        </p:nvSpPr>
        <p:spPr>
          <a:xfrm>
            <a:off x="7955280" y="2980944"/>
            <a:ext cx="822960" cy="274320"/>
          </a:xfrm>
          <a:prstGeom prst="rect">
            <a:avLst/>
          </a:prstGeom>
          <a:noFill/>
          <a:ln/>
        </p:spPr>
        <p:txBody>
          <a:bodyPr wrap="square" lIns="0" tIns="0" rIns="0" bIns="0" rtlCol="0" anchor="ctr"/>
          <a:lstStyle/>
          <a:p>
            <a:pPr algn="r" indent="0" marL="0">
              <a:buNone/>
            </a:pPr>
            <a:r>
              <a:rPr lang="en-US" sz="1100" b="1" dirty="0">
                <a:solidFill>
                  <a:srgbClr val="00C2CB"/>
                </a:solidFill>
              </a:rPr>
              <a:t>20 min</a:t>
            </a:r>
            <a:endParaRPr lang="en-US" sz="1100" dirty="0"/>
          </a:p>
        </p:txBody>
      </p:sp>
      <p:sp>
        <p:nvSpPr>
          <p:cNvPr id="23" name="Shape 21"/>
          <p:cNvSpPr/>
          <p:nvPr/>
        </p:nvSpPr>
        <p:spPr>
          <a:xfrm>
            <a:off x="320040" y="3529584"/>
            <a:ext cx="8503920" cy="594360"/>
          </a:xfrm>
          <a:prstGeom prst="rect">
            <a:avLst/>
          </a:prstGeom>
          <a:solidFill>
            <a:srgbClr val="1B2A3B"/>
          </a:solidFill>
          <a:ln w="12700">
            <a:solidFill>
              <a:srgbClr val="2A3F55"/>
            </a:solidFill>
            <a:prstDash val="solid"/>
          </a:ln>
        </p:spPr>
      </p:sp>
      <p:sp>
        <p:nvSpPr>
          <p:cNvPr id="24" name="Shape 22"/>
          <p:cNvSpPr/>
          <p:nvPr/>
        </p:nvSpPr>
        <p:spPr>
          <a:xfrm>
            <a:off x="320040" y="3529584"/>
            <a:ext cx="502920" cy="594360"/>
          </a:xfrm>
          <a:prstGeom prst="rect">
            <a:avLst/>
          </a:prstGeom>
          <a:solidFill>
            <a:srgbClr val="2A4A60"/>
          </a:solidFill>
          <a:ln w="12700">
            <a:solidFill>
              <a:srgbClr val="2A4A60"/>
            </a:solidFill>
            <a:prstDash val="solid"/>
          </a:ln>
        </p:spPr>
      </p:sp>
      <p:sp>
        <p:nvSpPr>
          <p:cNvPr id="25" name="Text 23"/>
          <p:cNvSpPr/>
          <p:nvPr/>
        </p:nvSpPr>
        <p:spPr>
          <a:xfrm>
            <a:off x="320040" y="3621024"/>
            <a:ext cx="502920" cy="411480"/>
          </a:xfrm>
          <a:prstGeom prst="rect">
            <a:avLst/>
          </a:prstGeom>
          <a:noFill/>
          <a:ln/>
        </p:spPr>
        <p:txBody>
          <a:bodyPr wrap="square" lIns="0" tIns="0" rIns="0" bIns="0" rtlCol="0" anchor="ctr"/>
          <a:lstStyle/>
          <a:p>
            <a:pPr algn="ctr" indent="0" marL="0">
              <a:buNone/>
            </a:pPr>
            <a:r>
              <a:rPr lang="en-US" sz="1300" b="1" dirty="0">
                <a:solidFill>
                  <a:srgbClr val="00C2CB"/>
                </a:solidFill>
              </a:rPr>
              <a:t>04</a:t>
            </a:r>
            <a:endParaRPr lang="en-US" sz="1300" dirty="0"/>
          </a:p>
        </p:txBody>
      </p:sp>
      <p:sp>
        <p:nvSpPr>
          <p:cNvPr id="26" name="Text 24"/>
          <p:cNvSpPr/>
          <p:nvPr/>
        </p:nvSpPr>
        <p:spPr>
          <a:xfrm>
            <a:off x="960120" y="3602736"/>
            <a:ext cx="5486400" cy="256032"/>
          </a:xfrm>
          <a:prstGeom prst="rect">
            <a:avLst/>
          </a:prstGeom>
          <a:noFill/>
          <a:ln/>
        </p:spPr>
        <p:txBody>
          <a:bodyPr wrap="square" lIns="0" tIns="0" rIns="0" bIns="0" rtlCol="0" anchor="ctr"/>
          <a:lstStyle/>
          <a:p>
            <a:pPr indent="0" marL="0">
              <a:buNone/>
            </a:pPr>
            <a:r>
              <a:rPr lang="en-US" sz="1400" b="1" dirty="0">
                <a:solidFill>
                  <a:srgbClr val="FFFFFF"/>
                </a:solidFill>
              </a:rPr>
              <a:t>AI-Enhanced DevOps</a:t>
            </a:r>
            <a:endParaRPr lang="en-US" sz="1400" dirty="0"/>
          </a:p>
        </p:txBody>
      </p:sp>
      <p:sp>
        <p:nvSpPr>
          <p:cNvPr id="27" name="Text 25"/>
          <p:cNvSpPr/>
          <p:nvPr/>
        </p:nvSpPr>
        <p:spPr>
          <a:xfrm>
            <a:off x="960120" y="3858768"/>
            <a:ext cx="5943600" cy="201168"/>
          </a:xfrm>
          <a:prstGeom prst="rect">
            <a:avLst/>
          </a:prstGeom>
          <a:noFill/>
          <a:ln/>
        </p:spPr>
        <p:txBody>
          <a:bodyPr wrap="square" lIns="0" tIns="0" rIns="0" bIns="0" rtlCol="0" anchor="ctr"/>
          <a:lstStyle/>
          <a:p>
            <a:pPr indent="0" marL="0">
              <a:buNone/>
            </a:pPr>
            <a:r>
              <a:rPr lang="en-US" sz="1000" dirty="0">
                <a:solidFill>
                  <a:srgbClr val="6E8FAA"/>
                </a:solidFill>
              </a:rPr>
              <a:t>Copilot, CodeQL, AI debug CI logs</a:t>
            </a:r>
            <a:endParaRPr lang="en-US" sz="1000" dirty="0"/>
          </a:p>
        </p:txBody>
      </p:sp>
      <p:sp>
        <p:nvSpPr>
          <p:cNvPr id="28" name="Text 26"/>
          <p:cNvSpPr/>
          <p:nvPr/>
        </p:nvSpPr>
        <p:spPr>
          <a:xfrm>
            <a:off x="7955280" y="3685032"/>
            <a:ext cx="822960" cy="274320"/>
          </a:xfrm>
          <a:prstGeom prst="rect">
            <a:avLst/>
          </a:prstGeom>
          <a:noFill/>
          <a:ln/>
        </p:spPr>
        <p:txBody>
          <a:bodyPr wrap="square" lIns="0" tIns="0" rIns="0" bIns="0" rtlCol="0" anchor="ctr"/>
          <a:lstStyle/>
          <a:p>
            <a:pPr algn="r" indent="0" marL="0">
              <a:buNone/>
            </a:pPr>
            <a:r>
              <a:rPr lang="en-US" sz="1100" b="1" dirty="0">
                <a:solidFill>
                  <a:srgbClr val="00C2CB"/>
                </a:solidFill>
              </a:rPr>
              <a:t>15 min</a:t>
            </a:r>
            <a:endParaRPr lang="en-US" sz="1100" dirty="0"/>
          </a:p>
        </p:txBody>
      </p:sp>
      <p:sp>
        <p:nvSpPr>
          <p:cNvPr id="29" name="Shape 27"/>
          <p:cNvSpPr/>
          <p:nvPr/>
        </p:nvSpPr>
        <p:spPr>
          <a:xfrm>
            <a:off x="320040" y="4233672"/>
            <a:ext cx="8503920" cy="594360"/>
          </a:xfrm>
          <a:prstGeom prst="rect">
            <a:avLst/>
          </a:prstGeom>
          <a:solidFill>
            <a:srgbClr val="1B2A3B"/>
          </a:solidFill>
          <a:ln w="12700">
            <a:solidFill>
              <a:srgbClr val="2A3F55"/>
            </a:solidFill>
            <a:prstDash val="solid"/>
          </a:ln>
        </p:spPr>
      </p:sp>
      <p:sp>
        <p:nvSpPr>
          <p:cNvPr id="30" name="Shape 28"/>
          <p:cNvSpPr/>
          <p:nvPr/>
        </p:nvSpPr>
        <p:spPr>
          <a:xfrm>
            <a:off x="320040" y="4233672"/>
            <a:ext cx="502920" cy="594360"/>
          </a:xfrm>
          <a:prstGeom prst="rect">
            <a:avLst/>
          </a:prstGeom>
          <a:solidFill>
            <a:srgbClr val="2A4A60"/>
          </a:solidFill>
          <a:ln w="12700">
            <a:solidFill>
              <a:srgbClr val="2A4A60"/>
            </a:solidFill>
            <a:prstDash val="solid"/>
          </a:ln>
        </p:spPr>
      </p:sp>
      <p:sp>
        <p:nvSpPr>
          <p:cNvPr id="31" name="Text 29"/>
          <p:cNvSpPr/>
          <p:nvPr/>
        </p:nvSpPr>
        <p:spPr>
          <a:xfrm>
            <a:off x="320040" y="4325112"/>
            <a:ext cx="502920" cy="411480"/>
          </a:xfrm>
          <a:prstGeom prst="rect">
            <a:avLst/>
          </a:prstGeom>
          <a:noFill/>
          <a:ln/>
        </p:spPr>
        <p:txBody>
          <a:bodyPr wrap="square" lIns="0" tIns="0" rIns="0" bIns="0" rtlCol="0" anchor="ctr"/>
          <a:lstStyle/>
          <a:p>
            <a:pPr algn="ctr" indent="0" marL="0">
              <a:buNone/>
            </a:pPr>
            <a:r>
              <a:rPr lang="en-US" sz="1300" b="1" dirty="0">
                <a:solidFill>
                  <a:srgbClr val="00C2CB"/>
                </a:solidFill>
              </a:rPr>
              <a:t>05</a:t>
            </a:r>
            <a:endParaRPr lang="en-US" sz="1300" dirty="0"/>
          </a:p>
        </p:txBody>
      </p:sp>
      <p:sp>
        <p:nvSpPr>
          <p:cNvPr id="32" name="Text 30"/>
          <p:cNvSpPr/>
          <p:nvPr/>
        </p:nvSpPr>
        <p:spPr>
          <a:xfrm>
            <a:off x="960120" y="4306824"/>
            <a:ext cx="5486400" cy="256032"/>
          </a:xfrm>
          <a:prstGeom prst="rect">
            <a:avLst/>
          </a:prstGeom>
          <a:noFill/>
          <a:ln/>
        </p:spPr>
        <p:txBody>
          <a:bodyPr wrap="square" lIns="0" tIns="0" rIns="0" bIns="0" rtlCol="0" anchor="ctr"/>
          <a:lstStyle/>
          <a:p>
            <a:pPr indent="0" marL="0">
              <a:buNone/>
            </a:pPr>
            <a:r>
              <a:rPr lang="en-US" sz="1400" b="1" dirty="0">
                <a:solidFill>
                  <a:srgbClr val="FFFFFF"/>
                </a:solidFill>
              </a:rPr>
              <a:t>Best Practices &amp; Q&amp;A</a:t>
            </a:r>
            <a:endParaRPr lang="en-US" sz="1400" dirty="0"/>
          </a:p>
        </p:txBody>
      </p:sp>
      <p:sp>
        <p:nvSpPr>
          <p:cNvPr id="33" name="Text 31"/>
          <p:cNvSpPr/>
          <p:nvPr/>
        </p:nvSpPr>
        <p:spPr>
          <a:xfrm>
            <a:off x="960120" y="4562856"/>
            <a:ext cx="5943600" cy="201168"/>
          </a:xfrm>
          <a:prstGeom prst="rect">
            <a:avLst/>
          </a:prstGeom>
          <a:noFill/>
          <a:ln/>
        </p:spPr>
        <p:txBody>
          <a:bodyPr wrap="square" lIns="0" tIns="0" rIns="0" bIns="0" rtlCol="0" anchor="ctr"/>
          <a:lstStyle/>
          <a:p>
            <a:pPr indent="0" marL="0">
              <a:buNone/>
            </a:pPr>
            <a:r>
              <a:rPr lang="en-US" sz="1000" dirty="0">
                <a:solidFill>
                  <a:srgbClr val="6E8FAA"/>
                </a:solidFill>
              </a:rPr>
              <a:t>Lời khuyên thực tế + câu hỏi</a:t>
            </a:r>
            <a:endParaRPr lang="en-US" sz="1000" dirty="0"/>
          </a:p>
        </p:txBody>
      </p:sp>
      <p:sp>
        <p:nvSpPr>
          <p:cNvPr id="34" name="Text 32"/>
          <p:cNvSpPr/>
          <p:nvPr/>
        </p:nvSpPr>
        <p:spPr>
          <a:xfrm>
            <a:off x="7955280" y="4389120"/>
            <a:ext cx="822960" cy="274320"/>
          </a:xfrm>
          <a:prstGeom prst="rect">
            <a:avLst/>
          </a:prstGeom>
          <a:noFill/>
          <a:ln/>
        </p:spPr>
        <p:txBody>
          <a:bodyPr wrap="square" lIns="0" tIns="0" rIns="0" bIns="0" rtlCol="0" anchor="ctr"/>
          <a:lstStyle/>
          <a:p>
            <a:pPr algn="r" indent="0" marL="0">
              <a:buNone/>
            </a:pPr>
            <a:r>
              <a:rPr lang="en-US" sz="1100" b="1" dirty="0">
                <a:solidFill>
                  <a:srgbClr val="00C2CB"/>
                </a:solidFill>
              </a:rPr>
              <a:t>10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6FB"/>
        </a:solidFill>
      </p:bgPr>
    </p:bg>
    <p:spTree>
      <p:nvGrpSpPr>
        <p:cNvPr id="1" name=""/>
        <p:cNvGrpSpPr/>
        <p:nvPr/>
      </p:nvGrpSpPr>
      <p:grpSpPr>
        <a:xfrm>
          <a:off x="0" y="0"/>
          <a:ext cx="0" cy="0"/>
          <a:chOff x="0" y="0"/>
          <a:chExt cx="0" cy="0"/>
        </a:xfrm>
      </p:grpSpPr>
      <p:sp>
        <p:nvSpPr>
          <p:cNvPr id="2" name="Shape 0"/>
          <p:cNvSpPr/>
          <p:nvPr/>
        </p:nvSpPr>
        <p:spPr>
          <a:xfrm>
            <a:off x="365760" y="274320"/>
            <a:ext cx="1005840" cy="256032"/>
          </a:xfrm>
          <a:prstGeom prst="rect">
            <a:avLst/>
          </a:prstGeom>
          <a:solidFill>
            <a:srgbClr val="065A82"/>
          </a:solidFill>
          <a:ln w="12700">
            <a:solidFill>
              <a:srgbClr val="065A82"/>
            </a:solidFill>
            <a:prstDash val="solid"/>
          </a:ln>
        </p:spPr>
      </p:sp>
      <p:sp>
        <p:nvSpPr>
          <p:cNvPr id="3" name="Text 1"/>
          <p:cNvSpPr/>
          <p:nvPr/>
        </p:nvSpPr>
        <p:spPr>
          <a:xfrm>
            <a:off x="365760" y="274320"/>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PHẦN 01</a:t>
            </a:r>
            <a:endParaRPr lang="en-US" sz="900" dirty="0"/>
          </a:p>
        </p:txBody>
      </p:sp>
      <p:sp>
        <p:nvSpPr>
          <p:cNvPr id="4" name="Text 2"/>
          <p:cNvSpPr/>
          <p:nvPr/>
        </p:nvSpPr>
        <p:spPr>
          <a:xfrm>
            <a:off x="365760" y="640080"/>
            <a:ext cx="8229600" cy="548640"/>
          </a:xfrm>
          <a:prstGeom prst="rect">
            <a:avLst/>
          </a:prstGeom>
          <a:noFill/>
          <a:ln/>
        </p:spPr>
        <p:txBody>
          <a:bodyPr wrap="square" lIns="0" tIns="0" rIns="0" bIns="0" rtlCol="0" anchor="ctr"/>
          <a:lstStyle/>
          <a:p>
            <a:pPr indent="0" marL="0">
              <a:buNone/>
            </a:pPr>
            <a:r>
              <a:rPr lang="en-US" sz="3000" b="1" dirty="0">
                <a:solidFill>
                  <a:srgbClr val="1A2535"/>
                </a:solidFill>
              </a:rPr>
              <a:t>DevOps &amp; CI/CD là gì?</a:t>
            </a:r>
            <a:endParaRPr lang="en-US" sz="3000" dirty="0"/>
          </a:p>
        </p:txBody>
      </p:sp>
      <p:sp>
        <p:nvSpPr>
          <p:cNvPr id="5" name="Shape 3"/>
          <p:cNvSpPr/>
          <p:nvPr/>
        </p:nvSpPr>
        <p:spPr>
          <a:xfrm>
            <a:off x="365760" y="1325880"/>
            <a:ext cx="8412480" cy="685800"/>
          </a:xfrm>
          <a:prstGeom prst="rect">
            <a:avLst/>
          </a:prstGeom>
          <a:solidFill>
            <a:srgbClr val="065A82"/>
          </a:solidFill>
          <a:ln w="12700">
            <a:solidFill>
              <a:srgbClr val="065A82"/>
            </a:solidFill>
            <a:prstDash val="solid"/>
          </a:ln>
        </p:spPr>
      </p:sp>
      <p:pic>
        <p:nvPicPr>
          <p:cNvPr id="6" name="Image 0" descr="preencoded.png">    </p:cNvPr>
          <p:cNvPicPr>
            <a:picLocks noChangeAspect="1"/>
          </p:cNvPicPr>
          <p:nvPr/>
        </p:nvPicPr>
        <p:blipFill>
          <a:blip r:embed="rId1"/>
          <a:stretch>
            <a:fillRect/>
          </a:stretch>
        </p:blipFill>
        <p:spPr>
          <a:xfrm>
            <a:off x="502920" y="1417320"/>
            <a:ext cx="411480" cy="411480"/>
          </a:xfrm>
          <a:prstGeom prst="rect">
            <a:avLst/>
          </a:prstGeom>
        </p:spPr>
      </p:pic>
      <p:sp>
        <p:nvSpPr>
          <p:cNvPr id="7" name="Text 4"/>
          <p:cNvSpPr/>
          <p:nvPr/>
        </p:nvSpPr>
        <p:spPr>
          <a:xfrm>
            <a:off x="1051560" y="1399032"/>
            <a:ext cx="7498080" cy="502920"/>
          </a:xfrm>
          <a:prstGeom prst="rect">
            <a:avLst/>
          </a:prstGeom>
          <a:noFill/>
          <a:ln/>
        </p:spPr>
        <p:txBody>
          <a:bodyPr wrap="square" lIns="0" tIns="0" rIns="0" bIns="0" rtlCol="0" anchor="ctr"/>
          <a:lstStyle/>
          <a:p>
            <a:pPr indent="0" marL="0">
              <a:buNone/>
            </a:pPr>
            <a:r>
              <a:rPr lang="en-US" sz="1300" i="1" dirty="0">
                <a:solidFill>
                  <a:srgbClr val="FFFFFF"/>
                </a:solidFill>
              </a:rPr>
              <a:t>Analogy: CI/CD giống như dây chuyền sản xuất tự động — code đưa vào một đầu, app hoạt động ra đầu kia, với kiểm tra chất lượng tự động ở giữa.</a:t>
            </a:r>
            <a:endParaRPr lang="en-US" sz="1300" dirty="0"/>
          </a:p>
        </p:txBody>
      </p:sp>
      <p:sp>
        <p:nvSpPr>
          <p:cNvPr id="8" name="Shape 5"/>
          <p:cNvSpPr/>
          <p:nvPr/>
        </p:nvSpPr>
        <p:spPr>
          <a:xfrm>
            <a:off x="365760" y="2148840"/>
            <a:ext cx="2697480" cy="2651760"/>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8000"/>
              </a:srgbClr>
            </a:outerShdw>
          </a:effectLst>
        </p:spPr>
      </p:sp>
      <p:sp>
        <p:nvSpPr>
          <p:cNvPr id="9" name="Shape 6"/>
          <p:cNvSpPr/>
          <p:nvPr/>
        </p:nvSpPr>
        <p:spPr>
          <a:xfrm>
            <a:off x="365760" y="2148840"/>
            <a:ext cx="2697480" cy="54864"/>
          </a:xfrm>
          <a:prstGeom prst="rect">
            <a:avLst/>
          </a:prstGeom>
          <a:solidFill>
            <a:srgbClr val="065A82"/>
          </a:solidFill>
          <a:ln w="12700">
            <a:solidFill>
              <a:srgbClr val="065A82"/>
            </a:solidFill>
            <a:prstDash val="solid"/>
          </a:ln>
        </p:spPr>
      </p:sp>
      <p:sp>
        <p:nvSpPr>
          <p:cNvPr id="10" name="Text 7"/>
          <p:cNvSpPr/>
          <p:nvPr/>
        </p:nvSpPr>
        <p:spPr>
          <a:xfrm>
            <a:off x="530352" y="2331720"/>
            <a:ext cx="2377440" cy="411480"/>
          </a:xfrm>
          <a:prstGeom prst="rect">
            <a:avLst/>
          </a:prstGeom>
          <a:noFill/>
          <a:ln/>
        </p:spPr>
        <p:txBody>
          <a:bodyPr wrap="square" lIns="0" tIns="0" rIns="0" bIns="0" rtlCol="0" anchor="ctr"/>
          <a:lstStyle/>
          <a:p>
            <a:pPr indent="0" marL="0">
              <a:buNone/>
            </a:pPr>
            <a:r>
              <a:rPr lang="en-US" sz="2200" b="1" dirty="0">
                <a:solidFill>
                  <a:srgbClr val="065A82"/>
                </a:solidFill>
              </a:rPr>
              <a:t>DevOps</a:t>
            </a:r>
            <a:endParaRPr lang="en-US" sz="2200" dirty="0"/>
          </a:p>
        </p:txBody>
      </p:sp>
      <p:sp>
        <p:nvSpPr>
          <p:cNvPr id="11" name="Text 8"/>
          <p:cNvSpPr/>
          <p:nvPr/>
        </p:nvSpPr>
        <p:spPr>
          <a:xfrm>
            <a:off x="530352" y="2761488"/>
            <a:ext cx="2377440" cy="256032"/>
          </a:xfrm>
          <a:prstGeom prst="rect">
            <a:avLst/>
          </a:prstGeom>
          <a:noFill/>
          <a:ln/>
        </p:spPr>
        <p:txBody>
          <a:bodyPr wrap="square" lIns="0" tIns="0" rIns="0" bIns="0" rtlCol="0" anchor="ctr"/>
          <a:lstStyle/>
          <a:p>
            <a:pPr indent="0" marL="0">
              <a:buNone/>
            </a:pPr>
            <a:r>
              <a:rPr lang="en-US" sz="1100" dirty="0">
                <a:solidFill>
                  <a:srgbClr val="6E8FAA"/>
                </a:solidFill>
              </a:rPr>
              <a:t>Văn hóa &amp; Mindset</a:t>
            </a:r>
            <a:endParaRPr lang="en-US" sz="1100" dirty="0"/>
          </a:p>
        </p:txBody>
      </p:sp>
      <p:sp>
        <p:nvSpPr>
          <p:cNvPr id="12" name="Shape 9"/>
          <p:cNvSpPr/>
          <p:nvPr/>
        </p:nvSpPr>
        <p:spPr>
          <a:xfrm>
            <a:off x="530352" y="3063240"/>
            <a:ext cx="2359152" cy="4572"/>
          </a:xfrm>
          <a:prstGeom prst="rect">
            <a:avLst/>
          </a:prstGeom>
          <a:solidFill>
            <a:srgbClr val="E0EAF3"/>
          </a:solidFill>
          <a:ln w="12700">
            <a:solidFill>
              <a:srgbClr val="E0EAF3"/>
            </a:solidFill>
            <a:prstDash val="solid"/>
          </a:ln>
        </p:spPr>
      </p:sp>
      <p:sp>
        <p:nvSpPr>
          <p:cNvPr id="13" name="Text 10"/>
          <p:cNvSpPr/>
          <p:nvPr/>
        </p:nvSpPr>
        <p:spPr>
          <a:xfrm>
            <a:off x="530352" y="3182112"/>
            <a:ext cx="2395728" cy="1371600"/>
          </a:xfrm>
          <a:prstGeom prst="rect">
            <a:avLst/>
          </a:prstGeom>
          <a:noFill/>
          <a:ln/>
        </p:spPr>
        <p:txBody>
          <a:bodyPr wrap="square" lIns="0" tIns="0" rIns="0" bIns="0" rtlCol="0" anchor="ctr"/>
          <a:lstStyle/>
          <a:p>
            <a:pPr indent="0" marL="0">
              <a:lnSpc>
                <a:spcPct val="140000"/>
              </a:lnSpc>
              <a:buNone/>
            </a:pPr>
            <a:r>
              <a:rPr lang="en-US" sz="1250" dirty="0">
                <a:solidFill>
                  <a:srgbClr val="1A2535"/>
                </a:solidFill>
              </a:rPr>
              <a:t>Dev + Ops cộng tác liên tục.</a:t>
            </a:r>
            <a:endParaRPr lang="en-US" sz="1250" dirty="0"/>
          </a:p>
          <a:p>
            <a:pPr indent="0" marL="0">
              <a:lnSpc>
                <a:spcPct val="140000"/>
              </a:lnSpc>
              <a:buNone/>
            </a:pPr>
            <a:r>
              <a:rPr lang="en-US" sz="1250" dirty="0">
                <a:solidFill>
                  <a:srgbClr val="1A2535"/>
                </a:solidFill>
              </a:rPr>
              <a:t>Không phải tool — là cách làm việc.</a:t>
            </a:r>
            <a:endParaRPr lang="en-US" sz="1250" dirty="0"/>
          </a:p>
        </p:txBody>
      </p:sp>
      <p:sp>
        <p:nvSpPr>
          <p:cNvPr id="14" name="Shape 11"/>
          <p:cNvSpPr/>
          <p:nvPr/>
        </p:nvSpPr>
        <p:spPr>
          <a:xfrm>
            <a:off x="3200400" y="2148840"/>
            <a:ext cx="2697480" cy="2651760"/>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8000"/>
              </a:srgbClr>
            </a:outerShdw>
          </a:effectLst>
        </p:spPr>
      </p:sp>
      <p:sp>
        <p:nvSpPr>
          <p:cNvPr id="15" name="Shape 12"/>
          <p:cNvSpPr/>
          <p:nvPr/>
        </p:nvSpPr>
        <p:spPr>
          <a:xfrm>
            <a:off x="3200400" y="2148840"/>
            <a:ext cx="2697480" cy="54864"/>
          </a:xfrm>
          <a:prstGeom prst="rect">
            <a:avLst/>
          </a:prstGeom>
          <a:solidFill>
            <a:srgbClr val="0F9BAC"/>
          </a:solidFill>
          <a:ln w="12700">
            <a:solidFill>
              <a:srgbClr val="0F9BAC"/>
            </a:solidFill>
            <a:prstDash val="solid"/>
          </a:ln>
        </p:spPr>
      </p:sp>
      <p:sp>
        <p:nvSpPr>
          <p:cNvPr id="16" name="Text 13"/>
          <p:cNvSpPr/>
          <p:nvPr/>
        </p:nvSpPr>
        <p:spPr>
          <a:xfrm>
            <a:off x="3364992" y="2331720"/>
            <a:ext cx="2377440" cy="411480"/>
          </a:xfrm>
          <a:prstGeom prst="rect">
            <a:avLst/>
          </a:prstGeom>
          <a:noFill/>
          <a:ln/>
        </p:spPr>
        <p:txBody>
          <a:bodyPr wrap="square" lIns="0" tIns="0" rIns="0" bIns="0" rtlCol="0" anchor="ctr"/>
          <a:lstStyle/>
          <a:p>
            <a:pPr indent="0" marL="0">
              <a:buNone/>
            </a:pPr>
            <a:r>
              <a:rPr lang="en-US" sz="2200" b="1" dirty="0">
                <a:solidFill>
                  <a:srgbClr val="0F9BAC"/>
                </a:solidFill>
              </a:rPr>
              <a:t>CI</a:t>
            </a:r>
            <a:endParaRPr lang="en-US" sz="2200" dirty="0"/>
          </a:p>
        </p:txBody>
      </p:sp>
      <p:sp>
        <p:nvSpPr>
          <p:cNvPr id="17" name="Text 14"/>
          <p:cNvSpPr/>
          <p:nvPr/>
        </p:nvSpPr>
        <p:spPr>
          <a:xfrm>
            <a:off x="3364992" y="2761488"/>
            <a:ext cx="2377440" cy="256032"/>
          </a:xfrm>
          <a:prstGeom prst="rect">
            <a:avLst/>
          </a:prstGeom>
          <a:noFill/>
          <a:ln/>
        </p:spPr>
        <p:txBody>
          <a:bodyPr wrap="square" lIns="0" tIns="0" rIns="0" bIns="0" rtlCol="0" anchor="ctr"/>
          <a:lstStyle/>
          <a:p>
            <a:pPr indent="0" marL="0">
              <a:buNone/>
            </a:pPr>
            <a:r>
              <a:rPr lang="en-US" sz="1100" dirty="0">
                <a:solidFill>
                  <a:srgbClr val="6E8FAA"/>
                </a:solidFill>
              </a:rPr>
              <a:t>Continuous Integration</a:t>
            </a:r>
            <a:endParaRPr lang="en-US" sz="1100" dirty="0"/>
          </a:p>
        </p:txBody>
      </p:sp>
      <p:sp>
        <p:nvSpPr>
          <p:cNvPr id="18" name="Shape 15"/>
          <p:cNvSpPr/>
          <p:nvPr/>
        </p:nvSpPr>
        <p:spPr>
          <a:xfrm>
            <a:off x="3364992" y="3063240"/>
            <a:ext cx="2359152" cy="4572"/>
          </a:xfrm>
          <a:prstGeom prst="rect">
            <a:avLst/>
          </a:prstGeom>
          <a:solidFill>
            <a:srgbClr val="E0EAF3"/>
          </a:solidFill>
          <a:ln w="12700">
            <a:solidFill>
              <a:srgbClr val="E0EAF3"/>
            </a:solidFill>
            <a:prstDash val="solid"/>
          </a:ln>
        </p:spPr>
      </p:sp>
      <p:sp>
        <p:nvSpPr>
          <p:cNvPr id="19" name="Text 16"/>
          <p:cNvSpPr/>
          <p:nvPr/>
        </p:nvSpPr>
        <p:spPr>
          <a:xfrm>
            <a:off x="3364992" y="3182112"/>
            <a:ext cx="2395728" cy="1371600"/>
          </a:xfrm>
          <a:prstGeom prst="rect">
            <a:avLst/>
          </a:prstGeom>
          <a:noFill/>
          <a:ln/>
        </p:spPr>
        <p:txBody>
          <a:bodyPr wrap="square" lIns="0" tIns="0" rIns="0" bIns="0" rtlCol="0" anchor="ctr"/>
          <a:lstStyle/>
          <a:p>
            <a:pPr indent="0" marL="0">
              <a:lnSpc>
                <a:spcPct val="140000"/>
              </a:lnSpc>
              <a:buNone/>
            </a:pPr>
            <a:r>
              <a:rPr lang="en-US" sz="1250" dirty="0">
                <a:solidFill>
                  <a:srgbClr val="1A2535"/>
                </a:solidFill>
              </a:rPr>
              <a:t>Tự động build + test</a:t>
            </a:r>
            <a:endParaRPr lang="en-US" sz="1250" dirty="0"/>
          </a:p>
          <a:p>
            <a:pPr indent="0" marL="0">
              <a:lnSpc>
                <a:spcPct val="140000"/>
              </a:lnSpc>
              <a:buNone/>
            </a:pPr>
            <a:r>
              <a:rPr lang="en-US" sz="1250" dirty="0">
                <a:solidFill>
                  <a:srgbClr val="1A2535"/>
                </a:solidFill>
              </a:rPr>
              <a:t>mỗi khi push code mới lên repo.</a:t>
            </a:r>
            <a:endParaRPr lang="en-US" sz="1250" dirty="0"/>
          </a:p>
        </p:txBody>
      </p:sp>
      <p:sp>
        <p:nvSpPr>
          <p:cNvPr id="20" name="Shape 17"/>
          <p:cNvSpPr/>
          <p:nvPr/>
        </p:nvSpPr>
        <p:spPr>
          <a:xfrm>
            <a:off x="6035040" y="2148840"/>
            <a:ext cx="2697480" cy="2651760"/>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8000"/>
              </a:srgbClr>
            </a:outerShdw>
          </a:effectLst>
        </p:spPr>
      </p:sp>
      <p:sp>
        <p:nvSpPr>
          <p:cNvPr id="21" name="Shape 18"/>
          <p:cNvSpPr/>
          <p:nvPr/>
        </p:nvSpPr>
        <p:spPr>
          <a:xfrm>
            <a:off x="6035040" y="2148840"/>
            <a:ext cx="2697480" cy="54864"/>
          </a:xfrm>
          <a:prstGeom prst="rect">
            <a:avLst/>
          </a:prstGeom>
          <a:solidFill>
            <a:srgbClr val="00B37D"/>
          </a:solidFill>
          <a:ln w="12700">
            <a:solidFill>
              <a:srgbClr val="00B37D"/>
            </a:solidFill>
            <a:prstDash val="solid"/>
          </a:ln>
        </p:spPr>
      </p:sp>
      <p:sp>
        <p:nvSpPr>
          <p:cNvPr id="22" name="Text 19"/>
          <p:cNvSpPr/>
          <p:nvPr/>
        </p:nvSpPr>
        <p:spPr>
          <a:xfrm>
            <a:off x="6199632" y="2331720"/>
            <a:ext cx="2377440" cy="411480"/>
          </a:xfrm>
          <a:prstGeom prst="rect">
            <a:avLst/>
          </a:prstGeom>
          <a:noFill/>
          <a:ln/>
        </p:spPr>
        <p:txBody>
          <a:bodyPr wrap="square" lIns="0" tIns="0" rIns="0" bIns="0" rtlCol="0" anchor="ctr"/>
          <a:lstStyle/>
          <a:p>
            <a:pPr indent="0" marL="0">
              <a:buNone/>
            </a:pPr>
            <a:r>
              <a:rPr lang="en-US" sz="2200" b="1" dirty="0">
                <a:solidFill>
                  <a:srgbClr val="00B37D"/>
                </a:solidFill>
              </a:rPr>
              <a:t>CD</a:t>
            </a:r>
            <a:endParaRPr lang="en-US" sz="2200" dirty="0"/>
          </a:p>
        </p:txBody>
      </p:sp>
      <p:sp>
        <p:nvSpPr>
          <p:cNvPr id="23" name="Text 20"/>
          <p:cNvSpPr/>
          <p:nvPr/>
        </p:nvSpPr>
        <p:spPr>
          <a:xfrm>
            <a:off x="6199632" y="2761488"/>
            <a:ext cx="2377440" cy="256032"/>
          </a:xfrm>
          <a:prstGeom prst="rect">
            <a:avLst/>
          </a:prstGeom>
          <a:noFill/>
          <a:ln/>
        </p:spPr>
        <p:txBody>
          <a:bodyPr wrap="square" lIns="0" tIns="0" rIns="0" bIns="0" rtlCol="0" anchor="ctr"/>
          <a:lstStyle/>
          <a:p>
            <a:pPr indent="0" marL="0">
              <a:buNone/>
            </a:pPr>
            <a:r>
              <a:rPr lang="en-US" sz="1100" dirty="0">
                <a:solidFill>
                  <a:srgbClr val="6E8FAA"/>
                </a:solidFill>
              </a:rPr>
              <a:t>Continuous Deployment</a:t>
            </a:r>
            <a:endParaRPr lang="en-US" sz="1100" dirty="0"/>
          </a:p>
        </p:txBody>
      </p:sp>
      <p:sp>
        <p:nvSpPr>
          <p:cNvPr id="24" name="Shape 21"/>
          <p:cNvSpPr/>
          <p:nvPr/>
        </p:nvSpPr>
        <p:spPr>
          <a:xfrm>
            <a:off x="6199632" y="3063240"/>
            <a:ext cx="2359152" cy="4572"/>
          </a:xfrm>
          <a:prstGeom prst="rect">
            <a:avLst/>
          </a:prstGeom>
          <a:solidFill>
            <a:srgbClr val="E0EAF3"/>
          </a:solidFill>
          <a:ln w="12700">
            <a:solidFill>
              <a:srgbClr val="E0EAF3"/>
            </a:solidFill>
            <a:prstDash val="solid"/>
          </a:ln>
        </p:spPr>
      </p:sp>
      <p:sp>
        <p:nvSpPr>
          <p:cNvPr id="25" name="Text 22"/>
          <p:cNvSpPr/>
          <p:nvPr/>
        </p:nvSpPr>
        <p:spPr>
          <a:xfrm>
            <a:off x="6199632" y="3182112"/>
            <a:ext cx="2395728" cy="1371600"/>
          </a:xfrm>
          <a:prstGeom prst="rect">
            <a:avLst/>
          </a:prstGeom>
          <a:noFill/>
          <a:ln/>
        </p:spPr>
        <p:txBody>
          <a:bodyPr wrap="square" lIns="0" tIns="0" rIns="0" bIns="0" rtlCol="0" anchor="ctr"/>
          <a:lstStyle/>
          <a:p>
            <a:pPr indent="0" marL="0">
              <a:lnSpc>
                <a:spcPct val="140000"/>
              </a:lnSpc>
              <a:buNone/>
            </a:pPr>
            <a:r>
              <a:rPr lang="en-US" sz="1250" dirty="0">
                <a:solidFill>
                  <a:srgbClr val="1A2535"/>
                </a:solidFill>
              </a:rPr>
              <a:t>Tự động đưa code lên</a:t>
            </a:r>
            <a:endParaRPr lang="en-US" sz="1250" dirty="0"/>
          </a:p>
          <a:p>
            <a:pPr indent="0" marL="0">
              <a:lnSpc>
                <a:spcPct val="140000"/>
              </a:lnSpc>
              <a:buNone/>
            </a:pPr>
            <a:r>
              <a:rPr lang="en-US" sz="1250" dirty="0">
                <a:solidFill>
                  <a:srgbClr val="1A2535"/>
                </a:solidFill>
              </a:rPr>
              <a:t>server sau khi CI pass.</a:t>
            </a:r>
            <a:endParaRPr lang="en-US" sz="1250" dirty="0"/>
          </a:p>
        </p:txBody>
      </p:sp>
      <p:sp>
        <p:nvSpPr>
          <p:cNvPr id="26" name="Text 23"/>
          <p:cNvSpPr/>
          <p:nvPr/>
        </p:nvSpPr>
        <p:spPr>
          <a:xfrm>
            <a:off x="365760" y="4800600"/>
            <a:ext cx="8412480" cy="228600"/>
          </a:xfrm>
          <a:prstGeom prst="rect">
            <a:avLst/>
          </a:prstGeom>
          <a:noFill/>
          <a:ln/>
        </p:spPr>
        <p:txBody>
          <a:bodyPr wrap="square" lIns="0" tIns="0" rIns="0" bIns="0" rtlCol="0" anchor="ctr"/>
          <a:lstStyle/>
          <a:p>
            <a:pPr algn="ctr" indent="0" marL="0">
              <a:buNone/>
            </a:pPr>
            <a:r>
              <a:rPr lang="en-US" sz="1100" dirty="0">
                <a:solidFill>
                  <a:srgbClr val="6E8FAA"/>
                </a:solidFill>
              </a:rPr>
              <a:t>Code  →  Push  →  Test  →  Build  →  Deploy  →  Monitor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B"/>
        </a:solidFill>
      </p:bgPr>
    </p:bg>
    <p:spTree>
      <p:nvGrpSpPr>
        <p:cNvPr id="1" name=""/>
        <p:cNvGrpSpPr/>
        <p:nvPr/>
      </p:nvGrpSpPr>
      <p:grpSpPr>
        <a:xfrm>
          <a:off x="0" y="0"/>
          <a:ext cx="0" cy="0"/>
          <a:chOff x="0" y="0"/>
          <a:chExt cx="0" cy="0"/>
        </a:xfrm>
      </p:grpSpPr>
      <p:sp>
        <p:nvSpPr>
          <p:cNvPr id="2" name="Shape 0"/>
          <p:cNvSpPr/>
          <p:nvPr/>
        </p:nvSpPr>
        <p:spPr>
          <a:xfrm>
            <a:off x="365760" y="274320"/>
            <a:ext cx="1005840" cy="256032"/>
          </a:xfrm>
          <a:prstGeom prst="rect">
            <a:avLst/>
          </a:prstGeom>
          <a:solidFill>
            <a:srgbClr val="065A82"/>
          </a:solidFill>
          <a:ln w="12700">
            <a:solidFill>
              <a:srgbClr val="065A82"/>
            </a:solidFill>
            <a:prstDash val="solid"/>
          </a:ln>
        </p:spPr>
      </p:sp>
      <p:sp>
        <p:nvSpPr>
          <p:cNvPr id="3" name="Text 1"/>
          <p:cNvSpPr/>
          <p:nvPr/>
        </p:nvSpPr>
        <p:spPr>
          <a:xfrm>
            <a:off x="365760" y="274320"/>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PHẦN 02</a:t>
            </a:r>
            <a:endParaRPr lang="en-US" sz="900" dirty="0"/>
          </a:p>
        </p:txBody>
      </p:sp>
      <p:sp>
        <p:nvSpPr>
          <p:cNvPr id="4" name="Text 2"/>
          <p:cNvSpPr/>
          <p:nvPr/>
        </p:nvSpPr>
        <p:spPr>
          <a:xfrm>
            <a:off x="365760" y="640080"/>
            <a:ext cx="8229600" cy="548640"/>
          </a:xfrm>
          <a:prstGeom prst="rect">
            <a:avLst/>
          </a:prstGeom>
          <a:noFill/>
          <a:ln/>
        </p:spPr>
        <p:txBody>
          <a:bodyPr wrap="square" lIns="0" tIns="0" rIns="0" bIns="0" rtlCol="0" anchor="ctr"/>
          <a:lstStyle/>
          <a:p>
            <a:pPr indent="0" marL="0">
              <a:buNone/>
            </a:pPr>
            <a:r>
              <a:rPr lang="en-US" sz="3000" b="1" dirty="0">
                <a:solidFill>
                  <a:srgbClr val="1A2535"/>
                </a:solidFill>
              </a:rPr>
              <a:t>GitHub Actions — Anatomy</a:t>
            </a:r>
            <a:endParaRPr lang="en-US" sz="3000" dirty="0"/>
          </a:p>
        </p:txBody>
      </p:sp>
      <p:sp>
        <p:nvSpPr>
          <p:cNvPr id="5" name="Text 3"/>
          <p:cNvSpPr/>
          <p:nvPr/>
        </p:nvSpPr>
        <p:spPr>
          <a:xfrm>
            <a:off x="365760" y="1298448"/>
            <a:ext cx="3657600" cy="292608"/>
          </a:xfrm>
          <a:prstGeom prst="rect">
            <a:avLst/>
          </a:prstGeom>
          <a:noFill/>
          <a:ln/>
        </p:spPr>
        <p:txBody>
          <a:bodyPr wrap="square" lIns="0" tIns="0" rIns="0" bIns="0" rtlCol="0" anchor="ctr"/>
          <a:lstStyle/>
          <a:p>
            <a:pPr indent="0" marL="0">
              <a:buNone/>
            </a:pPr>
            <a:r>
              <a:rPr lang="en-US" sz="1200" b="1" dirty="0">
                <a:solidFill>
                  <a:srgbClr val="0F9BAC"/>
                </a:solidFill>
              </a:rPr>
              <a:t>.github/workflows/ci.yml</a:t>
            </a:r>
            <a:endParaRPr lang="en-US" sz="1200" dirty="0"/>
          </a:p>
        </p:txBody>
      </p:sp>
      <p:sp>
        <p:nvSpPr>
          <p:cNvPr id="6" name="Shape 4"/>
          <p:cNvSpPr/>
          <p:nvPr/>
        </p:nvSpPr>
        <p:spPr>
          <a:xfrm>
            <a:off x="365760" y="1691640"/>
            <a:ext cx="4023360" cy="594360"/>
          </a:xfrm>
          <a:prstGeom prst="rect">
            <a:avLst/>
          </a:prstGeom>
          <a:solidFill>
            <a:srgbClr val="FFFFFF"/>
          </a:solidFill>
          <a:ln w="12700">
            <a:solidFill>
              <a:srgbClr val="D8E6F0"/>
            </a:solidFill>
            <a:prstDash val="solid"/>
          </a:ln>
          <a:effectLst>
            <a:outerShdw sx="100000" sy="100000" kx="0" ky="0" algn="bl" rotWithShape="0" blurRad="50800" dist="12700" dir="8100000">
              <a:srgbClr val="000000">
                <a:alpha val="7000"/>
              </a:srgbClr>
            </a:outerShdw>
          </a:effectLst>
        </p:spPr>
      </p:sp>
      <p:sp>
        <p:nvSpPr>
          <p:cNvPr id="7" name="Shape 5"/>
          <p:cNvSpPr/>
          <p:nvPr/>
        </p:nvSpPr>
        <p:spPr>
          <a:xfrm>
            <a:off x="365760" y="1691640"/>
            <a:ext cx="54864" cy="594360"/>
          </a:xfrm>
          <a:prstGeom prst="rect">
            <a:avLst/>
          </a:prstGeom>
          <a:solidFill>
            <a:srgbClr val="065A82"/>
          </a:solidFill>
          <a:ln w="12700">
            <a:solidFill>
              <a:srgbClr val="065A82"/>
            </a:solidFill>
            <a:prstDash val="solid"/>
          </a:ln>
        </p:spPr>
      </p:sp>
      <p:sp>
        <p:nvSpPr>
          <p:cNvPr id="8" name="Text 6"/>
          <p:cNvSpPr/>
          <p:nvPr/>
        </p:nvSpPr>
        <p:spPr>
          <a:xfrm>
            <a:off x="548640" y="1764792"/>
            <a:ext cx="3657600" cy="237744"/>
          </a:xfrm>
          <a:prstGeom prst="rect">
            <a:avLst/>
          </a:prstGeom>
          <a:noFill/>
          <a:ln/>
        </p:spPr>
        <p:txBody>
          <a:bodyPr wrap="square" lIns="0" tIns="0" rIns="0" bIns="0" rtlCol="0" anchor="ctr"/>
          <a:lstStyle/>
          <a:p>
            <a:pPr indent="0" marL="0">
              <a:buNone/>
            </a:pPr>
            <a:r>
              <a:rPr lang="en-US" sz="1400" b="1" dirty="0">
                <a:solidFill>
                  <a:srgbClr val="065A82"/>
                </a:solidFill>
              </a:rPr>
              <a:t>Workflow</a:t>
            </a:r>
            <a:endParaRPr lang="en-US" sz="1400" dirty="0"/>
          </a:p>
        </p:txBody>
      </p:sp>
      <p:sp>
        <p:nvSpPr>
          <p:cNvPr id="9" name="Text 7"/>
          <p:cNvSpPr/>
          <p:nvPr/>
        </p:nvSpPr>
        <p:spPr>
          <a:xfrm>
            <a:off x="548640" y="2029968"/>
            <a:ext cx="3749040" cy="201168"/>
          </a:xfrm>
          <a:prstGeom prst="rect">
            <a:avLst/>
          </a:prstGeom>
          <a:noFill/>
          <a:ln/>
        </p:spPr>
        <p:txBody>
          <a:bodyPr wrap="square" lIns="0" tIns="0" rIns="0" bIns="0" rtlCol="0" anchor="ctr"/>
          <a:lstStyle/>
          <a:p>
            <a:pPr indent="0" marL="0">
              <a:buNone/>
            </a:pPr>
            <a:r>
              <a:rPr lang="en-US" sz="1100" dirty="0">
                <a:solidFill>
                  <a:srgbClr val="6E8FAA"/>
                </a:solidFill>
              </a:rPr>
              <a:t>1 file YAML = 1 workflow</a:t>
            </a:r>
            <a:endParaRPr lang="en-US" sz="1100" dirty="0"/>
          </a:p>
        </p:txBody>
      </p:sp>
      <p:sp>
        <p:nvSpPr>
          <p:cNvPr id="10" name="Shape 8"/>
          <p:cNvSpPr/>
          <p:nvPr/>
        </p:nvSpPr>
        <p:spPr>
          <a:xfrm>
            <a:off x="640080" y="2304288"/>
            <a:ext cx="0" cy="137160"/>
          </a:xfrm>
          <a:prstGeom prst="line">
            <a:avLst/>
          </a:prstGeom>
          <a:noFill/>
          <a:ln w="19050">
            <a:solidFill>
              <a:srgbClr val="C0D4E4"/>
            </a:solidFill>
            <a:prstDash val="solid"/>
          </a:ln>
        </p:spPr>
      </p:sp>
      <p:sp>
        <p:nvSpPr>
          <p:cNvPr id="11" name="Shape 9"/>
          <p:cNvSpPr/>
          <p:nvPr/>
        </p:nvSpPr>
        <p:spPr>
          <a:xfrm>
            <a:off x="365760" y="2423160"/>
            <a:ext cx="4023360" cy="594360"/>
          </a:xfrm>
          <a:prstGeom prst="rect">
            <a:avLst/>
          </a:prstGeom>
          <a:solidFill>
            <a:srgbClr val="FFFFFF"/>
          </a:solidFill>
          <a:ln w="12700">
            <a:solidFill>
              <a:srgbClr val="D8E6F0"/>
            </a:solidFill>
            <a:prstDash val="solid"/>
          </a:ln>
          <a:effectLst>
            <a:outerShdw sx="100000" sy="100000" kx="0" ky="0" algn="bl" rotWithShape="0" blurRad="50800" dist="12700" dir="8100000">
              <a:srgbClr val="000000">
                <a:alpha val="7000"/>
              </a:srgbClr>
            </a:outerShdw>
          </a:effectLst>
        </p:spPr>
      </p:sp>
      <p:sp>
        <p:nvSpPr>
          <p:cNvPr id="12" name="Shape 10"/>
          <p:cNvSpPr/>
          <p:nvPr/>
        </p:nvSpPr>
        <p:spPr>
          <a:xfrm>
            <a:off x="365760" y="2423160"/>
            <a:ext cx="54864" cy="594360"/>
          </a:xfrm>
          <a:prstGeom prst="rect">
            <a:avLst/>
          </a:prstGeom>
          <a:solidFill>
            <a:srgbClr val="0F9BAC"/>
          </a:solidFill>
          <a:ln w="12700">
            <a:solidFill>
              <a:srgbClr val="0F9BAC"/>
            </a:solidFill>
            <a:prstDash val="solid"/>
          </a:ln>
        </p:spPr>
      </p:sp>
      <p:sp>
        <p:nvSpPr>
          <p:cNvPr id="13" name="Text 11"/>
          <p:cNvSpPr/>
          <p:nvPr/>
        </p:nvSpPr>
        <p:spPr>
          <a:xfrm>
            <a:off x="548640" y="2496312"/>
            <a:ext cx="3657600" cy="237744"/>
          </a:xfrm>
          <a:prstGeom prst="rect">
            <a:avLst/>
          </a:prstGeom>
          <a:noFill/>
          <a:ln/>
        </p:spPr>
        <p:txBody>
          <a:bodyPr wrap="square" lIns="0" tIns="0" rIns="0" bIns="0" rtlCol="0" anchor="ctr"/>
          <a:lstStyle/>
          <a:p>
            <a:pPr indent="0" marL="0">
              <a:buNone/>
            </a:pPr>
            <a:r>
              <a:rPr lang="en-US" sz="1400" b="1" dirty="0">
                <a:solidFill>
                  <a:srgbClr val="0F9BAC"/>
                </a:solidFill>
              </a:rPr>
              <a:t>Trigger</a:t>
            </a:r>
            <a:endParaRPr lang="en-US" sz="1400" dirty="0"/>
          </a:p>
        </p:txBody>
      </p:sp>
      <p:sp>
        <p:nvSpPr>
          <p:cNvPr id="14" name="Text 12"/>
          <p:cNvSpPr/>
          <p:nvPr/>
        </p:nvSpPr>
        <p:spPr>
          <a:xfrm>
            <a:off x="548640" y="2761488"/>
            <a:ext cx="3749040" cy="201168"/>
          </a:xfrm>
          <a:prstGeom prst="rect">
            <a:avLst/>
          </a:prstGeom>
          <a:noFill/>
          <a:ln/>
        </p:spPr>
        <p:txBody>
          <a:bodyPr wrap="square" lIns="0" tIns="0" rIns="0" bIns="0" rtlCol="0" anchor="ctr"/>
          <a:lstStyle/>
          <a:p>
            <a:pPr indent="0" marL="0">
              <a:buNone/>
            </a:pPr>
            <a:r>
              <a:rPr lang="en-US" sz="1100" dirty="0">
                <a:solidFill>
                  <a:srgbClr val="6E8FAA"/>
                </a:solidFill>
              </a:rPr>
              <a:t>on: push, pull_request, schedule...</a:t>
            </a:r>
            <a:endParaRPr lang="en-US" sz="1100" dirty="0"/>
          </a:p>
        </p:txBody>
      </p:sp>
      <p:sp>
        <p:nvSpPr>
          <p:cNvPr id="15" name="Shape 13"/>
          <p:cNvSpPr/>
          <p:nvPr/>
        </p:nvSpPr>
        <p:spPr>
          <a:xfrm>
            <a:off x="640080" y="3035808"/>
            <a:ext cx="0" cy="137160"/>
          </a:xfrm>
          <a:prstGeom prst="line">
            <a:avLst/>
          </a:prstGeom>
          <a:noFill/>
          <a:ln w="19050">
            <a:solidFill>
              <a:srgbClr val="C0D4E4"/>
            </a:solidFill>
            <a:prstDash val="solid"/>
          </a:ln>
        </p:spPr>
      </p:sp>
      <p:sp>
        <p:nvSpPr>
          <p:cNvPr id="16" name="Shape 14"/>
          <p:cNvSpPr/>
          <p:nvPr/>
        </p:nvSpPr>
        <p:spPr>
          <a:xfrm>
            <a:off x="365760" y="3154680"/>
            <a:ext cx="4023360" cy="594360"/>
          </a:xfrm>
          <a:prstGeom prst="rect">
            <a:avLst/>
          </a:prstGeom>
          <a:solidFill>
            <a:srgbClr val="FFFFFF"/>
          </a:solidFill>
          <a:ln w="12700">
            <a:solidFill>
              <a:srgbClr val="D8E6F0"/>
            </a:solidFill>
            <a:prstDash val="solid"/>
          </a:ln>
          <a:effectLst>
            <a:outerShdw sx="100000" sy="100000" kx="0" ky="0" algn="bl" rotWithShape="0" blurRad="50800" dist="12700" dir="8100000">
              <a:srgbClr val="000000">
                <a:alpha val="7000"/>
              </a:srgbClr>
            </a:outerShdw>
          </a:effectLst>
        </p:spPr>
      </p:sp>
      <p:sp>
        <p:nvSpPr>
          <p:cNvPr id="17" name="Shape 15"/>
          <p:cNvSpPr/>
          <p:nvPr/>
        </p:nvSpPr>
        <p:spPr>
          <a:xfrm>
            <a:off x="365760" y="3154680"/>
            <a:ext cx="54864" cy="594360"/>
          </a:xfrm>
          <a:prstGeom prst="rect">
            <a:avLst/>
          </a:prstGeom>
          <a:solidFill>
            <a:srgbClr val="3B5A7A"/>
          </a:solidFill>
          <a:ln w="12700">
            <a:solidFill>
              <a:srgbClr val="3B5A7A"/>
            </a:solidFill>
            <a:prstDash val="solid"/>
          </a:ln>
        </p:spPr>
      </p:sp>
      <p:sp>
        <p:nvSpPr>
          <p:cNvPr id="18" name="Text 16"/>
          <p:cNvSpPr/>
          <p:nvPr/>
        </p:nvSpPr>
        <p:spPr>
          <a:xfrm>
            <a:off x="548640" y="3227832"/>
            <a:ext cx="3657600" cy="237744"/>
          </a:xfrm>
          <a:prstGeom prst="rect">
            <a:avLst/>
          </a:prstGeom>
          <a:noFill/>
          <a:ln/>
        </p:spPr>
        <p:txBody>
          <a:bodyPr wrap="square" lIns="0" tIns="0" rIns="0" bIns="0" rtlCol="0" anchor="ctr"/>
          <a:lstStyle/>
          <a:p>
            <a:pPr indent="0" marL="0">
              <a:buNone/>
            </a:pPr>
            <a:r>
              <a:rPr lang="en-US" sz="1400" b="1" dirty="0">
                <a:solidFill>
                  <a:srgbClr val="3B5A7A"/>
                </a:solidFill>
              </a:rPr>
              <a:t>Job</a:t>
            </a:r>
            <a:endParaRPr lang="en-US" sz="1400" dirty="0"/>
          </a:p>
        </p:txBody>
      </p:sp>
      <p:sp>
        <p:nvSpPr>
          <p:cNvPr id="19" name="Text 17"/>
          <p:cNvSpPr/>
          <p:nvPr/>
        </p:nvSpPr>
        <p:spPr>
          <a:xfrm>
            <a:off x="548640" y="3493008"/>
            <a:ext cx="3749040" cy="201168"/>
          </a:xfrm>
          <a:prstGeom prst="rect">
            <a:avLst/>
          </a:prstGeom>
          <a:noFill/>
          <a:ln/>
        </p:spPr>
        <p:txBody>
          <a:bodyPr wrap="square" lIns="0" tIns="0" rIns="0" bIns="0" rtlCol="0" anchor="ctr"/>
          <a:lstStyle/>
          <a:p>
            <a:pPr indent="0" marL="0">
              <a:buNone/>
            </a:pPr>
            <a:r>
              <a:rPr lang="en-US" sz="1100" dirty="0">
                <a:solidFill>
                  <a:srgbClr val="6E8FAA"/>
                </a:solidFill>
              </a:rPr>
              <a:t>Chạy trên 1 runner (ubuntu, windows)</a:t>
            </a:r>
            <a:endParaRPr lang="en-US" sz="1100" dirty="0"/>
          </a:p>
        </p:txBody>
      </p:sp>
      <p:sp>
        <p:nvSpPr>
          <p:cNvPr id="20" name="Shape 18"/>
          <p:cNvSpPr/>
          <p:nvPr/>
        </p:nvSpPr>
        <p:spPr>
          <a:xfrm>
            <a:off x="640080" y="3767328"/>
            <a:ext cx="0" cy="137160"/>
          </a:xfrm>
          <a:prstGeom prst="line">
            <a:avLst/>
          </a:prstGeom>
          <a:noFill/>
          <a:ln w="19050">
            <a:solidFill>
              <a:srgbClr val="C0D4E4"/>
            </a:solidFill>
            <a:prstDash val="solid"/>
          </a:ln>
        </p:spPr>
      </p:sp>
      <p:sp>
        <p:nvSpPr>
          <p:cNvPr id="21" name="Shape 19"/>
          <p:cNvSpPr/>
          <p:nvPr/>
        </p:nvSpPr>
        <p:spPr>
          <a:xfrm>
            <a:off x="365760" y="3886200"/>
            <a:ext cx="4023360" cy="594360"/>
          </a:xfrm>
          <a:prstGeom prst="rect">
            <a:avLst/>
          </a:prstGeom>
          <a:solidFill>
            <a:srgbClr val="FFFFFF"/>
          </a:solidFill>
          <a:ln w="12700">
            <a:solidFill>
              <a:srgbClr val="D8E6F0"/>
            </a:solidFill>
            <a:prstDash val="solid"/>
          </a:ln>
          <a:effectLst>
            <a:outerShdw sx="100000" sy="100000" kx="0" ky="0" algn="bl" rotWithShape="0" blurRad="50800" dist="12700" dir="8100000">
              <a:srgbClr val="000000">
                <a:alpha val="7000"/>
              </a:srgbClr>
            </a:outerShdw>
          </a:effectLst>
        </p:spPr>
      </p:sp>
      <p:sp>
        <p:nvSpPr>
          <p:cNvPr id="22" name="Shape 20"/>
          <p:cNvSpPr/>
          <p:nvPr/>
        </p:nvSpPr>
        <p:spPr>
          <a:xfrm>
            <a:off x="365760" y="3886200"/>
            <a:ext cx="54864" cy="594360"/>
          </a:xfrm>
          <a:prstGeom prst="rect">
            <a:avLst/>
          </a:prstGeom>
          <a:solidFill>
            <a:srgbClr val="00B37D"/>
          </a:solidFill>
          <a:ln w="12700">
            <a:solidFill>
              <a:srgbClr val="00B37D"/>
            </a:solidFill>
            <a:prstDash val="solid"/>
          </a:ln>
        </p:spPr>
      </p:sp>
      <p:sp>
        <p:nvSpPr>
          <p:cNvPr id="23" name="Text 21"/>
          <p:cNvSpPr/>
          <p:nvPr/>
        </p:nvSpPr>
        <p:spPr>
          <a:xfrm>
            <a:off x="548640" y="3959352"/>
            <a:ext cx="3657600" cy="237744"/>
          </a:xfrm>
          <a:prstGeom prst="rect">
            <a:avLst/>
          </a:prstGeom>
          <a:noFill/>
          <a:ln/>
        </p:spPr>
        <p:txBody>
          <a:bodyPr wrap="square" lIns="0" tIns="0" rIns="0" bIns="0" rtlCol="0" anchor="ctr"/>
          <a:lstStyle/>
          <a:p>
            <a:pPr indent="0" marL="0">
              <a:buNone/>
            </a:pPr>
            <a:r>
              <a:rPr lang="en-US" sz="1400" b="1" dirty="0">
                <a:solidFill>
                  <a:srgbClr val="00B37D"/>
                </a:solidFill>
              </a:rPr>
              <a:t>Step</a:t>
            </a:r>
            <a:endParaRPr lang="en-US" sz="1400" dirty="0"/>
          </a:p>
        </p:txBody>
      </p:sp>
      <p:sp>
        <p:nvSpPr>
          <p:cNvPr id="24" name="Text 22"/>
          <p:cNvSpPr/>
          <p:nvPr/>
        </p:nvSpPr>
        <p:spPr>
          <a:xfrm>
            <a:off x="548640" y="4224528"/>
            <a:ext cx="3749040" cy="201168"/>
          </a:xfrm>
          <a:prstGeom prst="rect">
            <a:avLst/>
          </a:prstGeom>
          <a:noFill/>
          <a:ln/>
        </p:spPr>
        <p:txBody>
          <a:bodyPr wrap="square" lIns="0" tIns="0" rIns="0" bIns="0" rtlCol="0" anchor="ctr"/>
          <a:lstStyle/>
          <a:p>
            <a:pPr indent="0" marL="0">
              <a:buNone/>
            </a:pPr>
            <a:r>
              <a:rPr lang="en-US" sz="1100" dirty="0">
                <a:solidFill>
                  <a:srgbClr val="6E8FAA"/>
                </a:solidFill>
              </a:rPr>
              <a:t>1 task: run script hoặc dùng action</a:t>
            </a:r>
            <a:endParaRPr lang="en-US" sz="1100" dirty="0"/>
          </a:p>
        </p:txBody>
      </p:sp>
      <p:sp>
        <p:nvSpPr>
          <p:cNvPr id="25" name="Shape 23"/>
          <p:cNvSpPr/>
          <p:nvPr/>
        </p:nvSpPr>
        <p:spPr>
          <a:xfrm>
            <a:off x="4709160" y="1691640"/>
            <a:ext cx="4160520" cy="914400"/>
          </a:xfrm>
          <a:prstGeom prst="rect">
            <a:avLst/>
          </a:prstGeom>
          <a:solidFill>
            <a:srgbClr val="FFFFFF"/>
          </a:solidFill>
          <a:ln w="12700">
            <a:solidFill>
              <a:srgbClr val="D8E6F0"/>
            </a:solidFill>
            <a:prstDash val="solid"/>
          </a:ln>
          <a:effectLst>
            <a:outerShdw sx="100000" sy="100000" kx="0" ky="0" algn="bl" rotWithShape="0" blurRad="50800" dist="12700" dir="8100000">
              <a:srgbClr val="000000">
                <a:alpha val="7000"/>
              </a:srgbClr>
            </a:outerShdw>
          </a:effectLst>
        </p:spPr>
      </p:sp>
      <p:pic>
        <p:nvPicPr>
          <p:cNvPr id="26" name="Image 0" descr="preencoded.png">    </p:cNvPr>
          <p:cNvPicPr>
            <a:picLocks noChangeAspect="1"/>
          </p:cNvPicPr>
          <p:nvPr/>
        </p:nvPicPr>
        <p:blipFill>
          <a:blip r:embed="rId1"/>
          <a:stretch>
            <a:fillRect/>
          </a:stretch>
        </p:blipFill>
        <p:spPr>
          <a:xfrm>
            <a:off x="4846320" y="1892808"/>
            <a:ext cx="384048" cy="384048"/>
          </a:xfrm>
          <a:prstGeom prst="rect">
            <a:avLst/>
          </a:prstGeom>
        </p:spPr>
      </p:pic>
      <p:sp>
        <p:nvSpPr>
          <p:cNvPr id="27" name="Text 24"/>
          <p:cNvSpPr/>
          <p:nvPr/>
        </p:nvSpPr>
        <p:spPr>
          <a:xfrm>
            <a:off x="5349240" y="1801368"/>
            <a:ext cx="3291840" cy="274320"/>
          </a:xfrm>
          <a:prstGeom prst="rect">
            <a:avLst/>
          </a:prstGeom>
          <a:noFill/>
          <a:ln/>
        </p:spPr>
        <p:txBody>
          <a:bodyPr wrap="square" lIns="0" tIns="0" rIns="0" bIns="0" rtlCol="0" anchor="ctr"/>
          <a:lstStyle/>
          <a:p>
            <a:pPr indent="0" marL="0">
              <a:buNone/>
            </a:pPr>
            <a:r>
              <a:rPr lang="en-US" sz="1400" b="1" dirty="0">
                <a:solidFill>
                  <a:srgbClr val="1A2535"/>
                </a:solidFill>
              </a:rPr>
              <a:t>Runner</a:t>
            </a:r>
            <a:endParaRPr lang="en-US" sz="1400" dirty="0"/>
          </a:p>
        </p:txBody>
      </p:sp>
      <p:sp>
        <p:nvSpPr>
          <p:cNvPr id="28" name="Text 25"/>
          <p:cNvSpPr/>
          <p:nvPr/>
        </p:nvSpPr>
        <p:spPr>
          <a:xfrm>
            <a:off x="5349240" y="2093976"/>
            <a:ext cx="3291840" cy="411480"/>
          </a:xfrm>
          <a:prstGeom prst="rect">
            <a:avLst/>
          </a:prstGeom>
          <a:noFill/>
          <a:ln/>
        </p:spPr>
        <p:txBody>
          <a:bodyPr wrap="square" lIns="0" tIns="0" rIns="0" bIns="0" rtlCol="0" anchor="ctr"/>
          <a:lstStyle/>
          <a:p>
            <a:pPr indent="0" marL="0">
              <a:lnSpc>
                <a:spcPct val="130000"/>
              </a:lnSpc>
              <a:buNone/>
            </a:pPr>
            <a:r>
              <a:rPr lang="en-US" sz="1100" dirty="0">
                <a:solidFill>
                  <a:srgbClr val="3B5A7A"/>
                </a:solidFill>
              </a:rPr>
              <a:t>Máy ảo GitHub cung cấp miễn phí. Chạy Linux/Mac/Windows.</a:t>
            </a:r>
            <a:endParaRPr lang="en-US" sz="1100" dirty="0"/>
          </a:p>
        </p:txBody>
      </p:sp>
      <p:sp>
        <p:nvSpPr>
          <p:cNvPr id="29" name="Shape 26"/>
          <p:cNvSpPr/>
          <p:nvPr/>
        </p:nvSpPr>
        <p:spPr>
          <a:xfrm>
            <a:off x="4709160" y="2743200"/>
            <a:ext cx="4160520" cy="914400"/>
          </a:xfrm>
          <a:prstGeom prst="rect">
            <a:avLst/>
          </a:prstGeom>
          <a:solidFill>
            <a:srgbClr val="FFFFFF"/>
          </a:solidFill>
          <a:ln w="12700">
            <a:solidFill>
              <a:srgbClr val="D8E6F0"/>
            </a:solidFill>
            <a:prstDash val="solid"/>
          </a:ln>
          <a:effectLst>
            <a:outerShdw sx="100000" sy="100000" kx="0" ky="0" algn="bl" rotWithShape="0" blurRad="50800" dist="12700" dir="8100000">
              <a:srgbClr val="000000">
                <a:alpha val="7000"/>
              </a:srgbClr>
            </a:outerShdw>
          </a:effectLst>
        </p:spPr>
      </p:sp>
      <p:pic>
        <p:nvPicPr>
          <p:cNvPr id="30" name="Image 1" descr="preencoded.png">    </p:cNvPr>
          <p:cNvPicPr>
            <a:picLocks noChangeAspect="1"/>
          </p:cNvPicPr>
          <p:nvPr/>
        </p:nvPicPr>
        <p:blipFill>
          <a:blip r:embed="rId2"/>
          <a:stretch>
            <a:fillRect/>
          </a:stretch>
        </p:blipFill>
        <p:spPr>
          <a:xfrm>
            <a:off x="4846320" y="2944368"/>
            <a:ext cx="384048" cy="384048"/>
          </a:xfrm>
          <a:prstGeom prst="rect">
            <a:avLst/>
          </a:prstGeom>
        </p:spPr>
      </p:pic>
      <p:sp>
        <p:nvSpPr>
          <p:cNvPr id="31" name="Text 27"/>
          <p:cNvSpPr/>
          <p:nvPr/>
        </p:nvSpPr>
        <p:spPr>
          <a:xfrm>
            <a:off x="5349240" y="2852928"/>
            <a:ext cx="3291840" cy="274320"/>
          </a:xfrm>
          <a:prstGeom prst="rect">
            <a:avLst/>
          </a:prstGeom>
          <a:noFill/>
          <a:ln/>
        </p:spPr>
        <p:txBody>
          <a:bodyPr wrap="square" lIns="0" tIns="0" rIns="0" bIns="0" rtlCol="0" anchor="ctr"/>
          <a:lstStyle/>
          <a:p>
            <a:pPr indent="0" marL="0">
              <a:buNone/>
            </a:pPr>
            <a:r>
              <a:rPr lang="en-US" sz="1400" b="1" dirty="0">
                <a:solidFill>
                  <a:srgbClr val="1A2535"/>
                </a:solidFill>
              </a:rPr>
              <a:t>Action</a:t>
            </a:r>
            <a:endParaRPr lang="en-US" sz="1400" dirty="0"/>
          </a:p>
        </p:txBody>
      </p:sp>
      <p:sp>
        <p:nvSpPr>
          <p:cNvPr id="32" name="Text 28"/>
          <p:cNvSpPr/>
          <p:nvPr/>
        </p:nvSpPr>
        <p:spPr>
          <a:xfrm>
            <a:off x="5349240" y="3145536"/>
            <a:ext cx="3291840" cy="411480"/>
          </a:xfrm>
          <a:prstGeom prst="rect">
            <a:avLst/>
          </a:prstGeom>
          <a:noFill/>
          <a:ln/>
        </p:spPr>
        <p:txBody>
          <a:bodyPr wrap="square" lIns="0" tIns="0" rIns="0" bIns="0" rtlCol="0" anchor="ctr"/>
          <a:lstStyle/>
          <a:p>
            <a:pPr indent="0" marL="0">
              <a:lnSpc>
                <a:spcPct val="130000"/>
              </a:lnSpc>
              <a:buNone/>
            </a:pPr>
            <a:r>
              <a:rPr lang="en-US" sz="1100" dirty="0">
                <a:solidFill>
                  <a:srgbClr val="3B5A7A"/>
                </a:solidFill>
              </a:rPr>
              <a:t>Code tái sử dụng từ Marketplace. VD: actions/checkout, setup-node.</a:t>
            </a:r>
            <a:endParaRPr lang="en-US" sz="1100" dirty="0"/>
          </a:p>
        </p:txBody>
      </p:sp>
      <p:sp>
        <p:nvSpPr>
          <p:cNvPr id="33" name="Shape 29"/>
          <p:cNvSpPr/>
          <p:nvPr/>
        </p:nvSpPr>
        <p:spPr>
          <a:xfrm>
            <a:off x="4709160" y="3794760"/>
            <a:ext cx="4160520" cy="914400"/>
          </a:xfrm>
          <a:prstGeom prst="rect">
            <a:avLst/>
          </a:prstGeom>
          <a:solidFill>
            <a:srgbClr val="FFFFFF"/>
          </a:solidFill>
          <a:ln w="12700">
            <a:solidFill>
              <a:srgbClr val="D8E6F0"/>
            </a:solidFill>
            <a:prstDash val="solid"/>
          </a:ln>
          <a:effectLst>
            <a:outerShdw sx="100000" sy="100000" kx="0" ky="0" algn="bl" rotWithShape="0" blurRad="50800" dist="12700" dir="8100000">
              <a:srgbClr val="000000">
                <a:alpha val="7000"/>
              </a:srgbClr>
            </a:outerShdw>
          </a:effectLst>
        </p:spPr>
      </p:sp>
      <p:pic>
        <p:nvPicPr>
          <p:cNvPr id="34" name="Image 2" descr="preencoded.png">    </p:cNvPr>
          <p:cNvPicPr>
            <a:picLocks noChangeAspect="1"/>
          </p:cNvPicPr>
          <p:nvPr/>
        </p:nvPicPr>
        <p:blipFill>
          <a:blip r:embed="rId3"/>
          <a:stretch>
            <a:fillRect/>
          </a:stretch>
        </p:blipFill>
        <p:spPr>
          <a:xfrm>
            <a:off x="4846320" y="3995928"/>
            <a:ext cx="384048" cy="384048"/>
          </a:xfrm>
          <a:prstGeom prst="rect">
            <a:avLst/>
          </a:prstGeom>
        </p:spPr>
      </p:pic>
      <p:sp>
        <p:nvSpPr>
          <p:cNvPr id="35" name="Text 30"/>
          <p:cNvSpPr/>
          <p:nvPr/>
        </p:nvSpPr>
        <p:spPr>
          <a:xfrm>
            <a:off x="5349240" y="3904488"/>
            <a:ext cx="3291840" cy="274320"/>
          </a:xfrm>
          <a:prstGeom prst="rect">
            <a:avLst/>
          </a:prstGeom>
          <a:noFill/>
          <a:ln/>
        </p:spPr>
        <p:txBody>
          <a:bodyPr wrap="square" lIns="0" tIns="0" rIns="0" bIns="0" rtlCol="0" anchor="ctr"/>
          <a:lstStyle/>
          <a:p>
            <a:pPr indent="0" marL="0">
              <a:buNone/>
            </a:pPr>
            <a:r>
              <a:rPr lang="en-US" sz="1400" b="1" dirty="0">
                <a:solidFill>
                  <a:srgbClr val="1A2535"/>
                </a:solidFill>
              </a:rPr>
              <a:t>Secrets</a:t>
            </a:r>
            <a:endParaRPr lang="en-US" sz="1400" dirty="0"/>
          </a:p>
        </p:txBody>
      </p:sp>
      <p:sp>
        <p:nvSpPr>
          <p:cNvPr id="36" name="Text 31"/>
          <p:cNvSpPr/>
          <p:nvPr/>
        </p:nvSpPr>
        <p:spPr>
          <a:xfrm>
            <a:off x="5349240" y="4197096"/>
            <a:ext cx="3291840" cy="411480"/>
          </a:xfrm>
          <a:prstGeom prst="rect">
            <a:avLst/>
          </a:prstGeom>
          <a:noFill/>
          <a:ln/>
        </p:spPr>
        <p:txBody>
          <a:bodyPr wrap="square" lIns="0" tIns="0" rIns="0" bIns="0" rtlCol="0" anchor="ctr"/>
          <a:lstStyle/>
          <a:p>
            <a:pPr indent="0" marL="0">
              <a:lnSpc>
                <a:spcPct val="130000"/>
              </a:lnSpc>
              <a:buNone/>
            </a:pPr>
            <a:r>
              <a:rPr lang="en-US" sz="1100" dirty="0">
                <a:solidFill>
                  <a:srgbClr val="3B5A7A"/>
                </a:solidFill>
              </a:rPr>
              <a:t>Lưu API key an toàn. Dùng ${{ secrets.MY_KEY }} trong YAML.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C2CB"/>
          </a:solidFill>
          <a:ln/>
        </p:spPr>
      </p:sp>
      <p:sp>
        <p:nvSpPr>
          <p:cNvPr id="3" name="Text 1"/>
          <p:cNvSpPr/>
          <p:nvPr/>
        </p:nvSpPr>
        <p:spPr>
          <a:xfrm>
            <a:off x="320040" y="201168"/>
            <a:ext cx="8229600" cy="411480"/>
          </a:xfrm>
          <a:prstGeom prst="rect">
            <a:avLst/>
          </a:prstGeom>
          <a:noFill/>
          <a:ln/>
        </p:spPr>
        <p:txBody>
          <a:bodyPr wrap="square" lIns="0" tIns="0" rIns="0" bIns="0" rtlCol="0" anchor="ctr"/>
          <a:lstStyle/>
          <a:p>
            <a:pPr indent="0" marL="0">
              <a:buNone/>
            </a:pPr>
            <a:r>
              <a:rPr lang="en-US" sz="2000" b="1" dirty="0">
                <a:solidFill>
                  <a:srgbClr val="FFFFFF"/>
                </a:solidFill>
              </a:rPr>
              <a:t>DEMO 1 — File Workflow Thực Tế</a:t>
            </a:r>
            <a:endParaRPr lang="en-US" sz="2000" dirty="0"/>
          </a:p>
        </p:txBody>
      </p:sp>
      <p:sp>
        <p:nvSpPr>
          <p:cNvPr id="4" name="Shape 2"/>
          <p:cNvSpPr/>
          <p:nvPr/>
        </p:nvSpPr>
        <p:spPr>
          <a:xfrm>
            <a:off x="320040" y="731520"/>
            <a:ext cx="4983480" cy="4297680"/>
          </a:xfrm>
          <a:prstGeom prst="rect">
            <a:avLst/>
          </a:prstGeom>
          <a:solidFill>
            <a:srgbClr val="1E3147"/>
          </a:solidFill>
          <a:ln w="12700">
            <a:solidFill>
              <a:srgbClr val="2A4060"/>
            </a:solidFill>
            <a:prstDash val="solid"/>
          </a:ln>
        </p:spPr>
      </p:sp>
      <p:sp>
        <p:nvSpPr>
          <p:cNvPr id="5" name="Text 3"/>
          <p:cNvSpPr/>
          <p:nvPr/>
        </p:nvSpPr>
        <p:spPr>
          <a:xfrm>
            <a:off x="457200" y="822960"/>
            <a:ext cx="466344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name: CI/CD Pipeline</a:t>
            </a:r>
            <a:endParaRPr lang="en-US" sz="1000" dirty="0"/>
          </a:p>
        </p:txBody>
      </p:sp>
      <p:sp>
        <p:nvSpPr>
          <p:cNvPr id="6" name="Text 4"/>
          <p:cNvSpPr/>
          <p:nvPr/>
        </p:nvSpPr>
        <p:spPr>
          <a:xfrm>
            <a:off x="457200" y="1024128"/>
            <a:ext cx="4663440" cy="201168"/>
          </a:xfrm>
          <a:prstGeom prst="rect">
            <a:avLst/>
          </a:prstGeom>
          <a:noFill/>
          <a:ln/>
        </p:spPr>
        <p:txBody>
          <a:bodyPr wrap="square" lIns="0" tIns="0" rIns="0" bIns="0" rtlCol="0" anchor="ctr"/>
          <a:lstStyle/>
          <a:p>
            <a:pPr indent="0" marL="0">
              <a:buNone/>
            </a:pPr>
            <a:endParaRPr lang="en-US" sz="1000" dirty="0"/>
          </a:p>
        </p:txBody>
      </p:sp>
      <p:sp>
        <p:nvSpPr>
          <p:cNvPr id="7" name="Text 5"/>
          <p:cNvSpPr/>
          <p:nvPr/>
        </p:nvSpPr>
        <p:spPr>
          <a:xfrm>
            <a:off x="457200" y="1225296"/>
            <a:ext cx="4663440" cy="201168"/>
          </a:xfrm>
          <a:prstGeom prst="rect">
            <a:avLst/>
          </a:prstGeom>
          <a:noFill/>
          <a:ln/>
        </p:spPr>
        <p:txBody>
          <a:bodyPr wrap="square" lIns="0" tIns="0" rIns="0" bIns="0" rtlCol="0" anchor="ctr"/>
          <a:lstStyle/>
          <a:p>
            <a:pPr indent="0" marL="0">
              <a:buNone/>
            </a:pPr>
            <a:r>
              <a:rPr lang="en-US" sz="1000" dirty="0">
                <a:solidFill>
                  <a:srgbClr val="00C2CB"/>
                </a:solidFill>
                <a:latin typeface="Consolas" pitchFamily="34" charset="0"/>
                <a:ea typeface="Consolas" pitchFamily="34" charset="-122"/>
                <a:cs typeface="Consolas" pitchFamily="34" charset="-120"/>
              </a:rPr>
              <a:t>on:</a:t>
            </a:r>
            <a:endParaRPr lang="en-US" sz="1000" dirty="0"/>
          </a:p>
        </p:txBody>
      </p:sp>
      <p:sp>
        <p:nvSpPr>
          <p:cNvPr id="8" name="Text 6"/>
          <p:cNvSpPr/>
          <p:nvPr/>
        </p:nvSpPr>
        <p:spPr>
          <a:xfrm>
            <a:off x="457200" y="1426464"/>
            <a:ext cx="4663440" cy="201168"/>
          </a:xfrm>
          <a:prstGeom prst="rect">
            <a:avLst/>
          </a:prstGeom>
          <a:noFill/>
          <a:ln/>
        </p:spPr>
        <p:txBody>
          <a:bodyPr wrap="square" lIns="0" tIns="0" rIns="0" bIns="0" rtlCol="0" anchor="ctr"/>
          <a:lstStyle/>
          <a:p>
            <a:pPr indent="0" marL="0">
              <a:buNone/>
            </a:pPr>
            <a:r>
              <a:rPr lang="en-US" sz="1000" dirty="0">
                <a:solidFill>
                  <a:srgbClr val="A8D8EA"/>
                </a:solidFill>
                <a:latin typeface="Consolas" pitchFamily="34" charset="0"/>
                <a:ea typeface="Consolas" pitchFamily="34" charset="-122"/>
                <a:cs typeface="Consolas" pitchFamily="34" charset="-120"/>
              </a:rPr>
              <a:t>  push:</a:t>
            </a:r>
            <a:endParaRPr lang="en-US" sz="1000" dirty="0"/>
          </a:p>
        </p:txBody>
      </p:sp>
      <p:sp>
        <p:nvSpPr>
          <p:cNvPr id="9" name="Text 7"/>
          <p:cNvSpPr/>
          <p:nvPr/>
        </p:nvSpPr>
        <p:spPr>
          <a:xfrm>
            <a:off x="457200" y="1627632"/>
            <a:ext cx="466344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branches: [main]</a:t>
            </a:r>
            <a:endParaRPr lang="en-US" sz="1000" dirty="0"/>
          </a:p>
        </p:txBody>
      </p:sp>
      <p:sp>
        <p:nvSpPr>
          <p:cNvPr id="10" name="Text 8"/>
          <p:cNvSpPr/>
          <p:nvPr/>
        </p:nvSpPr>
        <p:spPr>
          <a:xfrm>
            <a:off x="457200" y="1828800"/>
            <a:ext cx="4663440" cy="201168"/>
          </a:xfrm>
          <a:prstGeom prst="rect">
            <a:avLst/>
          </a:prstGeom>
          <a:noFill/>
          <a:ln/>
        </p:spPr>
        <p:txBody>
          <a:bodyPr wrap="square" lIns="0" tIns="0" rIns="0" bIns="0" rtlCol="0" anchor="ctr"/>
          <a:lstStyle/>
          <a:p>
            <a:pPr indent="0" marL="0">
              <a:buNone/>
            </a:pPr>
            <a:r>
              <a:rPr lang="en-US" sz="1000" dirty="0">
                <a:solidFill>
                  <a:srgbClr val="A8D8EA"/>
                </a:solidFill>
                <a:latin typeface="Consolas" pitchFamily="34" charset="0"/>
                <a:ea typeface="Consolas" pitchFamily="34" charset="-122"/>
                <a:cs typeface="Consolas" pitchFamily="34" charset="-120"/>
              </a:rPr>
              <a:t>  pull_request:</a:t>
            </a:r>
            <a:endParaRPr lang="en-US" sz="1000" dirty="0"/>
          </a:p>
        </p:txBody>
      </p:sp>
      <p:sp>
        <p:nvSpPr>
          <p:cNvPr id="11" name="Text 9"/>
          <p:cNvSpPr/>
          <p:nvPr/>
        </p:nvSpPr>
        <p:spPr>
          <a:xfrm>
            <a:off x="457200" y="2029968"/>
            <a:ext cx="466344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branches: [main]</a:t>
            </a:r>
            <a:endParaRPr lang="en-US" sz="1000" dirty="0"/>
          </a:p>
        </p:txBody>
      </p:sp>
      <p:sp>
        <p:nvSpPr>
          <p:cNvPr id="12" name="Text 10"/>
          <p:cNvSpPr/>
          <p:nvPr/>
        </p:nvSpPr>
        <p:spPr>
          <a:xfrm>
            <a:off x="457200" y="2231136"/>
            <a:ext cx="4663440" cy="201168"/>
          </a:xfrm>
          <a:prstGeom prst="rect">
            <a:avLst/>
          </a:prstGeom>
          <a:noFill/>
          <a:ln/>
        </p:spPr>
        <p:txBody>
          <a:bodyPr wrap="square" lIns="0" tIns="0" rIns="0" bIns="0" rtlCol="0" anchor="ctr"/>
          <a:lstStyle/>
          <a:p>
            <a:pPr indent="0" marL="0">
              <a:buNone/>
            </a:pPr>
            <a:endParaRPr lang="en-US" sz="1000" dirty="0"/>
          </a:p>
        </p:txBody>
      </p:sp>
      <p:sp>
        <p:nvSpPr>
          <p:cNvPr id="13" name="Text 11"/>
          <p:cNvSpPr/>
          <p:nvPr/>
        </p:nvSpPr>
        <p:spPr>
          <a:xfrm>
            <a:off x="457200" y="2432304"/>
            <a:ext cx="4663440" cy="201168"/>
          </a:xfrm>
          <a:prstGeom prst="rect">
            <a:avLst/>
          </a:prstGeom>
          <a:noFill/>
          <a:ln/>
        </p:spPr>
        <p:txBody>
          <a:bodyPr wrap="square" lIns="0" tIns="0" rIns="0" bIns="0" rtlCol="0" anchor="ctr"/>
          <a:lstStyle/>
          <a:p>
            <a:pPr indent="0" marL="0">
              <a:buNone/>
            </a:pPr>
            <a:r>
              <a:rPr lang="en-US" sz="1000" dirty="0">
                <a:solidFill>
                  <a:srgbClr val="00C2CB"/>
                </a:solidFill>
                <a:latin typeface="Consolas" pitchFamily="34" charset="0"/>
                <a:ea typeface="Consolas" pitchFamily="34" charset="-122"/>
                <a:cs typeface="Consolas" pitchFamily="34" charset="-120"/>
              </a:rPr>
              <a:t>jobs:</a:t>
            </a:r>
            <a:endParaRPr lang="en-US" sz="1000" dirty="0"/>
          </a:p>
        </p:txBody>
      </p:sp>
      <p:sp>
        <p:nvSpPr>
          <p:cNvPr id="14" name="Text 12"/>
          <p:cNvSpPr/>
          <p:nvPr/>
        </p:nvSpPr>
        <p:spPr>
          <a:xfrm>
            <a:off x="457200" y="2633472"/>
            <a:ext cx="4663440" cy="201168"/>
          </a:xfrm>
          <a:prstGeom prst="rect">
            <a:avLst/>
          </a:prstGeom>
          <a:noFill/>
          <a:ln/>
        </p:spPr>
        <p:txBody>
          <a:bodyPr wrap="square" lIns="0" tIns="0" rIns="0" bIns="0" rtlCol="0" anchor="ctr"/>
          <a:lstStyle/>
          <a:p>
            <a:pPr indent="0" marL="0">
              <a:buNone/>
            </a:pPr>
            <a:r>
              <a:rPr lang="en-US" sz="1000" dirty="0">
                <a:solidFill>
                  <a:srgbClr val="A8D8EA"/>
                </a:solidFill>
                <a:latin typeface="Consolas" pitchFamily="34" charset="0"/>
                <a:ea typeface="Consolas" pitchFamily="34" charset="-122"/>
                <a:cs typeface="Consolas" pitchFamily="34" charset="-120"/>
              </a:rPr>
              <a:t>  test:</a:t>
            </a:r>
            <a:endParaRPr lang="en-US" sz="1000" dirty="0"/>
          </a:p>
        </p:txBody>
      </p:sp>
      <p:sp>
        <p:nvSpPr>
          <p:cNvPr id="15" name="Text 13"/>
          <p:cNvSpPr/>
          <p:nvPr/>
        </p:nvSpPr>
        <p:spPr>
          <a:xfrm>
            <a:off x="457200" y="2834640"/>
            <a:ext cx="466344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runs-on: ubuntu-latest</a:t>
            </a:r>
            <a:endParaRPr lang="en-US" sz="1000" dirty="0"/>
          </a:p>
        </p:txBody>
      </p:sp>
      <p:sp>
        <p:nvSpPr>
          <p:cNvPr id="16" name="Text 14"/>
          <p:cNvSpPr/>
          <p:nvPr/>
        </p:nvSpPr>
        <p:spPr>
          <a:xfrm>
            <a:off x="457200" y="3035808"/>
            <a:ext cx="4663440" cy="201168"/>
          </a:xfrm>
          <a:prstGeom prst="rect">
            <a:avLst/>
          </a:prstGeom>
          <a:noFill/>
          <a:ln/>
        </p:spPr>
        <p:txBody>
          <a:bodyPr wrap="square" lIns="0" tIns="0" rIns="0" bIns="0" rtlCol="0" anchor="ctr"/>
          <a:lstStyle/>
          <a:p>
            <a:pPr indent="0" marL="0">
              <a:buNone/>
            </a:pPr>
            <a:r>
              <a:rPr lang="en-US" sz="1000" dirty="0">
                <a:solidFill>
                  <a:srgbClr val="A8D8EA"/>
                </a:solidFill>
                <a:latin typeface="Consolas" pitchFamily="34" charset="0"/>
                <a:ea typeface="Consolas" pitchFamily="34" charset="-122"/>
                <a:cs typeface="Consolas" pitchFamily="34" charset="-120"/>
              </a:rPr>
              <a:t>    steps:</a:t>
            </a:r>
            <a:endParaRPr lang="en-US" sz="1000" dirty="0"/>
          </a:p>
        </p:txBody>
      </p:sp>
      <p:sp>
        <p:nvSpPr>
          <p:cNvPr id="17" name="Text 15"/>
          <p:cNvSpPr/>
          <p:nvPr/>
        </p:nvSpPr>
        <p:spPr>
          <a:xfrm>
            <a:off x="457200" y="3236976"/>
            <a:ext cx="4663440" cy="201168"/>
          </a:xfrm>
          <a:prstGeom prst="rect">
            <a:avLst/>
          </a:prstGeom>
          <a:noFill/>
          <a:ln/>
        </p:spPr>
        <p:txBody>
          <a:bodyPr wrap="square" lIns="0" tIns="0" rIns="0" bIns="0" rtlCol="0" anchor="ctr"/>
          <a:lstStyle/>
          <a:p>
            <a:pPr indent="0" marL="0">
              <a:buNone/>
            </a:pPr>
            <a:r>
              <a:rPr lang="en-US" sz="1000" dirty="0">
                <a:solidFill>
                  <a:srgbClr val="00B37D"/>
                </a:solidFill>
                <a:latin typeface="Consolas" pitchFamily="34" charset="0"/>
                <a:ea typeface="Consolas" pitchFamily="34" charset="-122"/>
                <a:cs typeface="Consolas" pitchFamily="34" charset="-120"/>
              </a:rPr>
              <a:t>      - uses: actions/checkout@v4</a:t>
            </a:r>
            <a:endParaRPr lang="en-US" sz="1000" dirty="0"/>
          </a:p>
        </p:txBody>
      </p:sp>
      <p:sp>
        <p:nvSpPr>
          <p:cNvPr id="18" name="Text 16"/>
          <p:cNvSpPr/>
          <p:nvPr/>
        </p:nvSpPr>
        <p:spPr>
          <a:xfrm>
            <a:off x="457200" y="3438144"/>
            <a:ext cx="4663440" cy="201168"/>
          </a:xfrm>
          <a:prstGeom prst="rect">
            <a:avLst/>
          </a:prstGeom>
          <a:noFill/>
          <a:ln/>
        </p:spPr>
        <p:txBody>
          <a:bodyPr wrap="square" lIns="0" tIns="0" rIns="0" bIns="0" rtlCol="0" anchor="ctr"/>
          <a:lstStyle/>
          <a:p>
            <a:pPr indent="0" marL="0">
              <a:buNone/>
            </a:pPr>
            <a:r>
              <a:rPr lang="en-US" sz="1000" dirty="0">
                <a:solidFill>
                  <a:srgbClr val="00B37D"/>
                </a:solidFill>
                <a:latin typeface="Consolas" pitchFamily="34" charset="0"/>
                <a:ea typeface="Consolas" pitchFamily="34" charset="-122"/>
                <a:cs typeface="Consolas" pitchFamily="34" charset="-120"/>
              </a:rPr>
              <a:t>      - uses: actions/setup-node@v4</a:t>
            </a:r>
            <a:endParaRPr lang="en-US" sz="1000" dirty="0"/>
          </a:p>
        </p:txBody>
      </p:sp>
      <p:sp>
        <p:nvSpPr>
          <p:cNvPr id="19" name="Text 17"/>
          <p:cNvSpPr/>
          <p:nvPr/>
        </p:nvSpPr>
        <p:spPr>
          <a:xfrm>
            <a:off x="457200" y="3639312"/>
            <a:ext cx="4663440" cy="201168"/>
          </a:xfrm>
          <a:prstGeom prst="rect">
            <a:avLst/>
          </a:prstGeom>
          <a:noFill/>
          <a:ln/>
        </p:spPr>
        <p:txBody>
          <a:bodyPr wrap="square" lIns="0" tIns="0" rIns="0" bIns="0" rtlCol="0" anchor="ctr"/>
          <a:lstStyle/>
          <a:p>
            <a:pPr indent="0" marL="0">
              <a:buNone/>
            </a:pPr>
            <a:r>
              <a:rPr lang="en-US" sz="1000" dirty="0">
                <a:solidFill>
                  <a:srgbClr val="A8D8EA"/>
                </a:solidFill>
                <a:latin typeface="Consolas" pitchFamily="34" charset="0"/>
                <a:ea typeface="Consolas" pitchFamily="34" charset="-122"/>
                <a:cs typeface="Consolas" pitchFamily="34" charset="-120"/>
              </a:rPr>
              <a:t>        with:</a:t>
            </a:r>
            <a:endParaRPr lang="en-US" sz="1000" dirty="0"/>
          </a:p>
        </p:txBody>
      </p:sp>
      <p:sp>
        <p:nvSpPr>
          <p:cNvPr id="20" name="Text 18"/>
          <p:cNvSpPr/>
          <p:nvPr/>
        </p:nvSpPr>
        <p:spPr>
          <a:xfrm>
            <a:off x="457200" y="3840480"/>
            <a:ext cx="466344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node-version: '20'</a:t>
            </a:r>
            <a:endParaRPr lang="en-US" sz="1000" dirty="0"/>
          </a:p>
        </p:txBody>
      </p:sp>
      <p:sp>
        <p:nvSpPr>
          <p:cNvPr id="21" name="Text 19"/>
          <p:cNvSpPr/>
          <p:nvPr/>
        </p:nvSpPr>
        <p:spPr>
          <a:xfrm>
            <a:off x="457200" y="4041648"/>
            <a:ext cx="466344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 run: npm ci</a:t>
            </a:r>
            <a:endParaRPr lang="en-US" sz="1000" dirty="0"/>
          </a:p>
        </p:txBody>
      </p:sp>
      <p:sp>
        <p:nvSpPr>
          <p:cNvPr id="22" name="Text 20"/>
          <p:cNvSpPr/>
          <p:nvPr/>
        </p:nvSpPr>
        <p:spPr>
          <a:xfrm>
            <a:off x="457200" y="4242816"/>
            <a:ext cx="466344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 run: npm test</a:t>
            </a:r>
            <a:endParaRPr lang="en-US" sz="1000" dirty="0"/>
          </a:p>
        </p:txBody>
      </p:sp>
      <p:sp>
        <p:nvSpPr>
          <p:cNvPr id="23" name="Text 21"/>
          <p:cNvSpPr/>
          <p:nvPr/>
        </p:nvSpPr>
        <p:spPr>
          <a:xfrm>
            <a:off x="457200" y="4443984"/>
            <a:ext cx="4663440" cy="20116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      - run: npm run build</a:t>
            </a:r>
            <a:endParaRPr lang="en-US" sz="1000" dirty="0"/>
          </a:p>
        </p:txBody>
      </p:sp>
      <p:sp>
        <p:nvSpPr>
          <p:cNvPr id="24" name="Shape 22"/>
          <p:cNvSpPr/>
          <p:nvPr/>
        </p:nvSpPr>
        <p:spPr>
          <a:xfrm>
            <a:off x="5532120" y="731520"/>
            <a:ext cx="3383280" cy="914400"/>
          </a:xfrm>
          <a:prstGeom prst="rect">
            <a:avLst/>
          </a:prstGeom>
          <a:solidFill>
            <a:srgbClr val="1B2A3B"/>
          </a:solidFill>
          <a:ln w="12700">
            <a:solidFill>
              <a:srgbClr val="2A4060"/>
            </a:solidFill>
            <a:prstDash val="solid"/>
          </a:ln>
        </p:spPr>
      </p:sp>
      <p:sp>
        <p:nvSpPr>
          <p:cNvPr id="25" name="Shape 23"/>
          <p:cNvSpPr/>
          <p:nvPr/>
        </p:nvSpPr>
        <p:spPr>
          <a:xfrm>
            <a:off x="5532120" y="731520"/>
            <a:ext cx="54864" cy="914400"/>
          </a:xfrm>
          <a:prstGeom prst="rect">
            <a:avLst/>
          </a:prstGeom>
          <a:solidFill>
            <a:srgbClr val="00C2CB"/>
          </a:solidFill>
          <a:ln w="12700">
            <a:solidFill>
              <a:srgbClr val="00C2CB"/>
            </a:solidFill>
            <a:prstDash val="solid"/>
          </a:ln>
        </p:spPr>
      </p:sp>
      <p:sp>
        <p:nvSpPr>
          <p:cNvPr id="26" name="Text 24"/>
          <p:cNvSpPr/>
          <p:nvPr/>
        </p:nvSpPr>
        <p:spPr>
          <a:xfrm>
            <a:off x="5669280" y="822960"/>
            <a:ext cx="3108960" cy="256032"/>
          </a:xfrm>
          <a:prstGeom prst="rect">
            <a:avLst/>
          </a:prstGeom>
          <a:noFill/>
          <a:ln/>
        </p:spPr>
        <p:txBody>
          <a:bodyPr wrap="square" lIns="0" tIns="0" rIns="0" bIns="0" rtlCol="0" anchor="ctr"/>
          <a:lstStyle/>
          <a:p>
            <a:pPr indent="0" marL="0">
              <a:buNone/>
            </a:pPr>
            <a:r>
              <a:rPr lang="en-US" sz="1200" b="1" dirty="0">
                <a:solidFill>
                  <a:srgbClr val="00C2CB"/>
                </a:solidFill>
              </a:rPr>
              <a:t>① Trigger</a:t>
            </a:r>
            <a:endParaRPr lang="en-US" sz="1200" dirty="0"/>
          </a:p>
        </p:txBody>
      </p:sp>
      <p:sp>
        <p:nvSpPr>
          <p:cNvPr id="27" name="Text 25"/>
          <p:cNvSpPr/>
          <p:nvPr/>
        </p:nvSpPr>
        <p:spPr>
          <a:xfrm>
            <a:off x="5669280" y="1115568"/>
            <a:ext cx="3108960" cy="457200"/>
          </a:xfrm>
          <a:prstGeom prst="rect">
            <a:avLst/>
          </a:prstGeom>
          <a:noFill/>
          <a:ln/>
        </p:spPr>
        <p:txBody>
          <a:bodyPr wrap="square" lIns="0" tIns="0" rIns="0" bIns="0" rtlCol="0" anchor="ctr"/>
          <a:lstStyle/>
          <a:p>
            <a:pPr indent="0" marL="0">
              <a:lnSpc>
                <a:spcPct val="130000"/>
              </a:lnSpc>
              <a:buNone/>
            </a:pPr>
            <a:r>
              <a:rPr lang="en-US" sz="1100" dirty="0">
                <a:solidFill>
                  <a:srgbClr val="6E8FAA"/>
                </a:solidFill>
              </a:rPr>
              <a:t>Workflow kích hoạt khi push hoặc PR vào branch main.</a:t>
            </a:r>
            <a:endParaRPr lang="en-US" sz="1100" dirty="0"/>
          </a:p>
        </p:txBody>
      </p:sp>
      <p:sp>
        <p:nvSpPr>
          <p:cNvPr id="28" name="Shape 26"/>
          <p:cNvSpPr/>
          <p:nvPr/>
        </p:nvSpPr>
        <p:spPr>
          <a:xfrm>
            <a:off x="5532120" y="1874520"/>
            <a:ext cx="3383280" cy="914400"/>
          </a:xfrm>
          <a:prstGeom prst="rect">
            <a:avLst/>
          </a:prstGeom>
          <a:solidFill>
            <a:srgbClr val="1B2A3B"/>
          </a:solidFill>
          <a:ln w="12700">
            <a:solidFill>
              <a:srgbClr val="2A4060"/>
            </a:solidFill>
            <a:prstDash val="solid"/>
          </a:ln>
        </p:spPr>
      </p:sp>
      <p:sp>
        <p:nvSpPr>
          <p:cNvPr id="29" name="Shape 27"/>
          <p:cNvSpPr/>
          <p:nvPr/>
        </p:nvSpPr>
        <p:spPr>
          <a:xfrm>
            <a:off x="5532120" y="1874520"/>
            <a:ext cx="54864" cy="914400"/>
          </a:xfrm>
          <a:prstGeom prst="rect">
            <a:avLst/>
          </a:prstGeom>
          <a:solidFill>
            <a:srgbClr val="A8D8EA"/>
          </a:solidFill>
          <a:ln w="12700">
            <a:solidFill>
              <a:srgbClr val="A8D8EA"/>
            </a:solidFill>
            <a:prstDash val="solid"/>
          </a:ln>
        </p:spPr>
      </p:sp>
      <p:sp>
        <p:nvSpPr>
          <p:cNvPr id="30" name="Text 28"/>
          <p:cNvSpPr/>
          <p:nvPr/>
        </p:nvSpPr>
        <p:spPr>
          <a:xfrm>
            <a:off x="5669280" y="1965960"/>
            <a:ext cx="3108960" cy="256032"/>
          </a:xfrm>
          <a:prstGeom prst="rect">
            <a:avLst/>
          </a:prstGeom>
          <a:noFill/>
          <a:ln/>
        </p:spPr>
        <p:txBody>
          <a:bodyPr wrap="square" lIns="0" tIns="0" rIns="0" bIns="0" rtlCol="0" anchor="ctr"/>
          <a:lstStyle/>
          <a:p>
            <a:pPr indent="0" marL="0">
              <a:buNone/>
            </a:pPr>
            <a:r>
              <a:rPr lang="en-US" sz="1200" b="1" dirty="0">
                <a:solidFill>
                  <a:srgbClr val="A8D8EA"/>
                </a:solidFill>
              </a:rPr>
              <a:t>② Job</a:t>
            </a:r>
            <a:endParaRPr lang="en-US" sz="1200" dirty="0"/>
          </a:p>
        </p:txBody>
      </p:sp>
      <p:sp>
        <p:nvSpPr>
          <p:cNvPr id="31" name="Text 29"/>
          <p:cNvSpPr/>
          <p:nvPr/>
        </p:nvSpPr>
        <p:spPr>
          <a:xfrm>
            <a:off x="5669280" y="2258568"/>
            <a:ext cx="3108960" cy="457200"/>
          </a:xfrm>
          <a:prstGeom prst="rect">
            <a:avLst/>
          </a:prstGeom>
          <a:noFill/>
          <a:ln/>
        </p:spPr>
        <p:txBody>
          <a:bodyPr wrap="square" lIns="0" tIns="0" rIns="0" bIns="0" rtlCol="0" anchor="ctr"/>
          <a:lstStyle/>
          <a:p>
            <a:pPr indent="0" marL="0">
              <a:lnSpc>
                <a:spcPct val="130000"/>
              </a:lnSpc>
              <a:buNone/>
            </a:pPr>
            <a:r>
              <a:rPr lang="en-US" sz="1100" dirty="0">
                <a:solidFill>
                  <a:srgbClr val="6E8FAA"/>
                </a:solidFill>
              </a:rPr>
              <a:t>Job 'test' chạy trên máy Ubuntu ảo của GitHub.</a:t>
            </a:r>
            <a:endParaRPr lang="en-US" sz="1100" dirty="0"/>
          </a:p>
        </p:txBody>
      </p:sp>
      <p:sp>
        <p:nvSpPr>
          <p:cNvPr id="32" name="Shape 30"/>
          <p:cNvSpPr/>
          <p:nvPr/>
        </p:nvSpPr>
        <p:spPr>
          <a:xfrm>
            <a:off x="5532120" y="2834640"/>
            <a:ext cx="3383280" cy="914400"/>
          </a:xfrm>
          <a:prstGeom prst="rect">
            <a:avLst/>
          </a:prstGeom>
          <a:solidFill>
            <a:srgbClr val="1B2A3B"/>
          </a:solidFill>
          <a:ln w="12700">
            <a:solidFill>
              <a:srgbClr val="2A4060"/>
            </a:solidFill>
            <a:prstDash val="solid"/>
          </a:ln>
        </p:spPr>
      </p:sp>
      <p:sp>
        <p:nvSpPr>
          <p:cNvPr id="33" name="Shape 31"/>
          <p:cNvSpPr/>
          <p:nvPr/>
        </p:nvSpPr>
        <p:spPr>
          <a:xfrm>
            <a:off x="5532120" y="2834640"/>
            <a:ext cx="54864" cy="914400"/>
          </a:xfrm>
          <a:prstGeom prst="rect">
            <a:avLst/>
          </a:prstGeom>
          <a:solidFill>
            <a:srgbClr val="00B37D"/>
          </a:solidFill>
          <a:ln w="12700">
            <a:solidFill>
              <a:srgbClr val="00B37D"/>
            </a:solidFill>
            <a:prstDash val="solid"/>
          </a:ln>
        </p:spPr>
      </p:sp>
      <p:sp>
        <p:nvSpPr>
          <p:cNvPr id="34" name="Text 32"/>
          <p:cNvSpPr/>
          <p:nvPr/>
        </p:nvSpPr>
        <p:spPr>
          <a:xfrm>
            <a:off x="5669280" y="2926080"/>
            <a:ext cx="3108960" cy="256032"/>
          </a:xfrm>
          <a:prstGeom prst="rect">
            <a:avLst/>
          </a:prstGeom>
          <a:noFill/>
          <a:ln/>
        </p:spPr>
        <p:txBody>
          <a:bodyPr wrap="square" lIns="0" tIns="0" rIns="0" bIns="0" rtlCol="0" anchor="ctr"/>
          <a:lstStyle/>
          <a:p>
            <a:pPr indent="0" marL="0">
              <a:buNone/>
            </a:pPr>
            <a:r>
              <a:rPr lang="en-US" sz="1200" b="1" dirty="0">
                <a:solidFill>
                  <a:srgbClr val="00B37D"/>
                </a:solidFill>
              </a:rPr>
              <a:t>③ Actions</a:t>
            </a:r>
            <a:endParaRPr lang="en-US" sz="1200" dirty="0"/>
          </a:p>
        </p:txBody>
      </p:sp>
      <p:sp>
        <p:nvSpPr>
          <p:cNvPr id="35" name="Text 33"/>
          <p:cNvSpPr/>
          <p:nvPr/>
        </p:nvSpPr>
        <p:spPr>
          <a:xfrm>
            <a:off x="5669280" y="3218688"/>
            <a:ext cx="3108960" cy="457200"/>
          </a:xfrm>
          <a:prstGeom prst="rect">
            <a:avLst/>
          </a:prstGeom>
          <a:noFill/>
          <a:ln/>
        </p:spPr>
        <p:txBody>
          <a:bodyPr wrap="square" lIns="0" tIns="0" rIns="0" bIns="0" rtlCol="0" anchor="ctr"/>
          <a:lstStyle/>
          <a:p>
            <a:pPr indent="0" marL="0">
              <a:lnSpc>
                <a:spcPct val="130000"/>
              </a:lnSpc>
              <a:buNone/>
            </a:pPr>
            <a:r>
              <a:rPr lang="en-US" sz="1100" dirty="0">
                <a:solidFill>
                  <a:srgbClr val="6E8FAA"/>
                </a:solidFill>
              </a:rPr>
              <a:t>Dùng action checkout và setup-node từ Marketplace.</a:t>
            </a:r>
            <a:endParaRPr lang="en-US" sz="1100" dirty="0"/>
          </a:p>
        </p:txBody>
      </p:sp>
      <p:sp>
        <p:nvSpPr>
          <p:cNvPr id="36" name="Shape 34"/>
          <p:cNvSpPr/>
          <p:nvPr/>
        </p:nvSpPr>
        <p:spPr>
          <a:xfrm>
            <a:off x="5532120" y="3749040"/>
            <a:ext cx="3383280" cy="914400"/>
          </a:xfrm>
          <a:prstGeom prst="rect">
            <a:avLst/>
          </a:prstGeom>
          <a:solidFill>
            <a:srgbClr val="1B2A3B"/>
          </a:solidFill>
          <a:ln w="12700">
            <a:solidFill>
              <a:srgbClr val="2A4060"/>
            </a:solidFill>
            <a:prstDash val="solid"/>
          </a:ln>
        </p:spPr>
      </p:sp>
      <p:sp>
        <p:nvSpPr>
          <p:cNvPr id="37" name="Shape 35"/>
          <p:cNvSpPr/>
          <p:nvPr/>
        </p:nvSpPr>
        <p:spPr>
          <a:xfrm>
            <a:off x="5532120" y="3749040"/>
            <a:ext cx="54864" cy="914400"/>
          </a:xfrm>
          <a:prstGeom prst="rect">
            <a:avLst/>
          </a:prstGeom>
          <a:solidFill>
            <a:srgbClr val="FFFFFF"/>
          </a:solidFill>
          <a:ln w="12700">
            <a:solidFill>
              <a:srgbClr val="FFFFFF"/>
            </a:solidFill>
            <a:prstDash val="solid"/>
          </a:ln>
        </p:spPr>
      </p:sp>
      <p:sp>
        <p:nvSpPr>
          <p:cNvPr id="38" name="Text 36"/>
          <p:cNvSpPr/>
          <p:nvPr/>
        </p:nvSpPr>
        <p:spPr>
          <a:xfrm>
            <a:off x="5669280" y="3840480"/>
            <a:ext cx="3108960" cy="256032"/>
          </a:xfrm>
          <a:prstGeom prst="rect">
            <a:avLst/>
          </a:prstGeom>
          <a:noFill/>
          <a:ln/>
        </p:spPr>
        <p:txBody>
          <a:bodyPr wrap="square" lIns="0" tIns="0" rIns="0" bIns="0" rtlCol="0" anchor="ctr"/>
          <a:lstStyle/>
          <a:p>
            <a:pPr indent="0" marL="0">
              <a:buNone/>
            </a:pPr>
            <a:r>
              <a:rPr lang="en-US" sz="1200" b="1" dirty="0">
                <a:solidFill>
                  <a:srgbClr val="FFFFFF"/>
                </a:solidFill>
              </a:rPr>
              <a:t>④ Steps</a:t>
            </a:r>
            <a:endParaRPr lang="en-US" sz="1200" dirty="0"/>
          </a:p>
        </p:txBody>
      </p:sp>
      <p:sp>
        <p:nvSpPr>
          <p:cNvPr id="39" name="Text 37"/>
          <p:cNvSpPr/>
          <p:nvPr/>
        </p:nvSpPr>
        <p:spPr>
          <a:xfrm>
            <a:off x="5669280" y="4133088"/>
            <a:ext cx="3108960" cy="457200"/>
          </a:xfrm>
          <a:prstGeom prst="rect">
            <a:avLst/>
          </a:prstGeom>
          <a:noFill/>
          <a:ln/>
        </p:spPr>
        <p:txBody>
          <a:bodyPr wrap="square" lIns="0" tIns="0" rIns="0" bIns="0" rtlCol="0" anchor="ctr"/>
          <a:lstStyle/>
          <a:p>
            <a:pPr indent="0" marL="0">
              <a:lnSpc>
                <a:spcPct val="130000"/>
              </a:lnSpc>
              <a:buNone/>
            </a:pPr>
            <a:r>
              <a:rPr lang="en-US" sz="1100" dirty="0">
                <a:solidFill>
                  <a:srgbClr val="6E8FAA"/>
                </a:solidFill>
              </a:rPr>
              <a:t>npm ci → npm test → npm run build. Theo thứ tự.</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6FB"/>
        </a:solidFill>
      </p:bgPr>
    </p:bg>
    <p:spTree>
      <p:nvGrpSpPr>
        <p:cNvPr id="1" name=""/>
        <p:cNvGrpSpPr/>
        <p:nvPr/>
      </p:nvGrpSpPr>
      <p:grpSpPr>
        <a:xfrm>
          <a:off x="0" y="0"/>
          <a:ext cx="0" cy="0"/>
          <a:chOff x="0" y="0"/>
          <a:chExt cx="0" cy="0"/>
        </a:xfrm>
      </p:grpSpPr>
      <p:sp>
        <p:nvSpPr>
          <p:cNvPr id="2" name="Shape 0"/>
          <p:cNvSpPr/>
          <p:nvPr/>
        </p:nvSpPr>
        <p:spPr>
          <a:xfrm>
            <a:off x="365760" y="274320"/>
            <a:ext cx="1005840" cy="256032"/>
          </a:xfrm>
          <a:prstGeom prst="rect">
            <a:avLst/>
          </a:prstGeom>
          <a:solidFill>
            <a:srgbClr val="065A82"/>
          </a:solidFill>
          <a:ln w="12700">
            <a:solidFill>
              <a:srgbClr val="065A82"/>
            </a:solidFill>
            <a:prstDash val="solid"/>
          </a:ln>
        </p:spPr>
      </p:sp>
      <p:sp>
        <p:nvSpPr>
          <p:cNvPr id="3" name="Text 1"/>
          <p:cNvSpPr/>
          <p:nvPr/>
        </p:nvSpPr>
        <p:spPr>
          <a:xfrm>
            <a:off x="365760" y="274320"/>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PHẦN 03</a:t>
            </a:r>
            <a:endParaRPr lang="en-US" sz="900" dirty="0"/>
          </a:p>
        </p:txBody>
      </p:sp>
      <p:sp>
        <p:nvSpPr>
          <p:cNvPr id="4" name="Text 2"/>
          <p:cNvSpPr/>
          <p:nvPr/>
        </p:nvSpPr>
        <p:spPr>
          <a:xfrm>
            <a:off x="365760" y="640080"/>
            <a:ext cx="8412480" cy="502920"/>
          </a:xfrm>
          <a:prstGeom prst="rect">
            <a:avLst/>
          </a:prstGeom>
          <a:noFill/>
          <a:ln/>
        </p:spPr>
        <p:txBody>
          <a:bodyPr wrap="square" lIns="0" tIns="0" rIns="0" bIns="0" rtlCol="0" anchor="ctr"/>
          <a:lstStyle/>
          <a:p>
            <a:pPr indent="0" marL="0">
              <a:buNone/>
            </a:pPr>
            <a:r>
              <a:rPr lang="en-US" sz="2800" b="1" dirty="0">
                <a:solidFill>
                  <a:srgbClr val="1A2535"/>
                </a:solidFill>
              </a:rPr>
              <a:t>Kiến trúc Deploy: Vercel + Render</a:t>
            </a:r>
            <a:endParaRPr lang="en-US" sz="2800" dirty="0"/>
          </a:p>
        </p:txBody>
      </p:sp>
      <p:sp>
        <p:nvSpPr>
          <p:cNvPr id="5" name="Shape 3"/>
          <p:cNvSpPr/>
          <p:nvPr/>
        </p:nvSpPr>
        <p:spPr>
          <a:xfrm>
            <a:off x="274320" y="1371600"/>
            <a:ext cx="1828800" cy="914400"/>
          </a:xfrm>
          <a:prstGeom prst="rect">
            <a:avLst/>
          </a:prstGeom>
          <a:solidFill>
            <a:srgbClr val="1B2A3B"/>
          </a:solidFill>
          <a:ln w="12700">
            <a:solidFill>
              <a:srgbClr val="1B2A3B"/>
            </a:solidFill>
            <a:prstDash val="solid"/>
          </a:ln>
        </p:spPr>
      </p:sp>
      <p:sp>
        <p:nvSpPr>
          <p:cNvPr id="6" name="Text 4"/>
          <p:cNvSpPr/>
          <p:nvPr/>
        </p:nvSpPr>
        <p:spPr>
          <a:xfrm>
            <a:off x="274320" y="1536192"/>
            <a:ext cx="1828800" cy="320040"/>
          </a:xfrm>
          <a:prstGeom prst="rect">
            <a:avLst/>
          </a:prstGeom>
          <a:noFill/>
          <a:ln/>
        </p:spPr>
        <p:txBody>
          <a:bodyPr wrap="square" lIns="0" tIns="0" rIns="0" bIns="0" rtlCol="0" anchor="ctr"/>
          <a:lstStyle/>
          <a:p>
            <a:pPr algn="ctr" indent="0" marL="0">
              <a:buNone/>
            </a:pPr>
            <a:r>
              <a:rPr lang="en-US" sz="1300" b="1" dirty="0">
                <a:solidFill>
                  <a:srgbClr val="FFFFFF"/>
                </a:solidFill>
              </a:rPr>
              <a:t>👩‍💻 Developer</a:t>
            </a:r>
            <a:endParaRPr lang="en-US" sz="1300" dirty="0"/>
          </a:p>
        </p:txBody>
      </p:sp>
      <p:sp>
        <p:nvSpPr>
          <p:cNvPr id="7" name="Text 5"/>
          <p:cNvSpPr/>
          <p:nvPr/>
        </p:nvSpPr>
        <p:spPr>
          <a:xfrm>
            <a:off x="274320" y="1874520"/>
            <a:ext cx="1828800" cy="274320"/>
          </a:xfrm>
          <a:prstGeom prst="rect">
            <a:avLst/>
          </a:prstGeom>
          <a:noFill/>
          <a:ln/>
        </p:spPr>
        <p:txBody>
          <a:bodyPr wrap="square" lIns="0" tIns="0" rIns="0" bIns="0" rtlCol="0" anchor="ctr"/>
          <a:lstStyle/>
          <a:p>
            <a:pPr algn="ctr" indent="0" marL="0">
              <a:buNone/>
            </a:pPr>
            <a:r>
              <a:rPr lang="en-US" sz="900" dirty="0">
                <a:solidFill>
                  <a:srgbClr val="00C2CB"/>
                </a:solidFill>
                <a:latin typeface="Consolas" pitchFamily="34" charset="0"/>
                <a:ea typeface="Consolas" pitchFamily="34" charset="-122"/>
                <a:cs typeface="Consolas" pitchFamily="34" charset="-120"/>
              </a:rPr>
              <a:t>git push origin main</a:t>
            </a:r>
            <a:endParaRPr lang="en-US" sz="900" dirty="0"/>
          </a:p>
        </p:txBody>
      </p:sp>
      <p:sp>
        <p:nvSpPr>
          <p:cNvPr id="8" name="Shape 6"/>
          <p:cNvSpPr/>
          <p:nvPr/>
        </p:nvSpPr>
        <p:spPr>
          <a:xfrm>
            <a:off x="2121408" y="1828800"/>
            <a:ext cx="731520" cy="0"/>
          </a:xfrm>
          <a:prstGeom prst="line">
            <a:avLst/>
          </a:prstGeom>
          <a:noFill/>
          <a:ln w="25400">
            <a:solidFill>
              <a:srgbClr val="00C2CB"/>
            </a:solidFill>
            <a:prstDash val="solid"/>
          </a:ln>
        </p:spPr>
      </p:sp>
      <p:sp>
        <p:nvSpPr>
          <p:cNvPr id="9" name="Text 7"/>
          <p:cNvSpPr/>
          <p:nvPr/>
        </p:nvSpPr>
        <p:spPr>
          <a:xfrm>
            <a:off x="2103120" y="1600200"/>
            <a:ext cx="777240" cy="201168"/>
          </a:xfrm>
          <a:prstGeom prst="rect">
            <a:avLst/>
          </a:prstGeom>
          <a:noFill/>
          <a:ln/>
        </p:spPr>
        <p:txBody>
          <a:bodyPr wrap="square" lIns="0" tIns="0" rIns="0" bIns="0" rtlCol="0" anchor="ctr"/>
          <a:lstStyle/>
          <a:p>
            <a:pPr algn="ctr" indent="0" marL="0">
              <a:buNone/>
            </a:pPr>
            <a:r>
              <a:rPr lang="en-US" sz="900" dirty="0">
                <a:solidFill>
                  <a:srgbClr val="00C2CB"/>
                </a:solidFill>
              </a:rPr>
              <a:t>push</a:t>
            </a:r>
            <a:endParaRPr lang="en-US" sz="900" dirty="0"/>
          </a:p>
        </p:txBody>
      </p:sp>
      <p:sp>
        <p:nvSpPr>
          <p:cNvPr id="10" name="Shape 8"/>
          <p:cNvSpPr/>
          <p:nvPr/>
        </p:nvSpPr>
        <p:spPr>
          <a:xfrm>
            <a:off x="2880360" y="1371600"/>
            <a:ext cx="1920240" cy="914400"/>
          </a:xfrm>
          <a:prstGeom prst="rect">
            <a:avLst/>
          </a:prstGeom>
          <a:solidFill>
            <a:srgbClr val="065A82"/>
          </a:solidFill>
          <a:ln w="12700">
            <a:solidFill>
              <a:srgbClr val="065A82"/>
            </a:solidFill>
            <a:prstDash val="solid"/>
          </a:ln>
        </p:spPr>
      </p:sp>
      <p:pic>
        <p:nvPicPr>
          <p:cNvPr id="11" name="Image 0" descr="preencoded.png">    </p:cNvPr>
          <p:cNvPicPr>
            <a:picLocks noChangeAspect="1"/>
          </p:cNvPicPr>
          <p:nvPr/>
        </p:nvPicPr>
        <p:blipFill>
          <a:blip r:embed="rId1"/>
          <a:stretch>
            <a:fillRect/>
          </a:stretch>
        </p:blipFill>
        <p:spPr>
          <a:xfrm>
            <a:off x="3017520" y="1444752"/>
            <a:ext cx="411480" cy="411480"/>
          </a:xfrm>
          <a:prstGeom prst="rect">
            <a:avLst/>
          </a:prstGeom>
        </p:spPr>
      </p:pic>
      <p:sp>
        <p:nvSpPr>
          <p:cNvPr id="12" name="Text 9"/>
          <p:cNvSpPr/>
          <p:nvPr/>
        </p:nvSpPr>
        <p:spPr>
          <a:xfrm>
            <a:off x="3456432" y="1490472"/>
            <a:ext cx="1188720" cy="320040"/>
          </a:xfrm>
          <a:prstGeom prst="rect">
            <a:avLst/>
          </a:prstGeom>
          <a:noFill/>
          <a:ln/>
        </p:spPr>
        <p:txBody>
          <a:bodyPr wrap="square" lIns="0" tIns="0" rIns="0" bIns="0" rtlCol="0" anchor="ctr"/>
          <a:lstStyle/>
          <a:p>
            <a:pPr indent="0" marL="0">
              <a:buNone/>
            </a:pPr>
            <a:r>
              <a:rPr lang="en-US" sz="1400" b="1" dirty="0">
                <a:solidFill>
                  <a:srgbClr val="FFFFFF"/>
                </a:solidFill>
              </a:rPr>
              <a:t>GitHub</a:t>
            </a:r>
            <a:endParaRPr lang="en-US" sz="1400" dirty="0"/>
          </a:p>
        </p:txBody>
      </p:sp>
      <p:sp>
        <p:nvSpPr>
          <p:cNvPr id="13" name="Text 10"/>
          <p:cNvSpPr/>
          <p:nvPr/>
        </p:nvSpPr>
        <p:spPr>
          <a:xfrm>
            <a:off x="2971800" y="1892808"/>
            <a:ext cx="1719072" cy="274320"/>
          </a:xfrm>
          <a:prstGeom prst="rect">
            <a:avLst/>
          </a:prstGeom>
          <a:noFill/>
          <a:ln/>
        </p:spPr>
        <p:txBody>
          <a:bodyPr wrap="square" lIns="0" tIns="0" rIns="0" bIns="0" rtlCol="0" anchor="ctr"/>
          <a:lstStyle/>
          <a:p>
            <a:pPr algn="ctr" indent="0" marL="0">
              <a:buNone/>
            </a:pPr>
            <a:r>
              <a:rPr lang="en-US" sz="950" dirty="0">
                <a:solidFill>
                  <a:srgbClr val="A8D8EA"/>
                </a:solidFill>
              </a:rPr>
              <a:t>Actions triggers</a:t>
            </a:r>
            <a:endParaRPr lang="en-US" sz="950" dirty="0"/>
          </a:p>
        </p:txBody>
      </p:sp>
      <p:sp>
        <p:nvSpPr>
          <p:cNvPr id="14" name="Shape 11"/>
          <p:cNvSpPr/>
          <p:nvPr/>
        </p:nvSpPr>
        <p:spPr>
          <a:xfrm>
            <a:off x="4818888" y="1828800"/>
            <a:ext cx="731520" cy="0"/>
          </a:xfrm>
          <a:prstGeom prst="line">
            <a:avLst/>
          </a:prstGeom>
          <a:noFill/>
          <a:ln w="25400">
            <a:solidFill>
              <a:srgbClr val="00C2CB"/>
            </a:solidFill>
            <a:prstDash val="solid"/>
          </a:ln>
        </p:spPr>
      </p:sp>
      <p:sp>
        <p:nvSpPr>
          <p:cNvPr id="15" name="Text 12"/>
          <p:cNvSpPr/>
          <p:nvPr/>
        </p:nvSpPr>
        <p:spPr>
          <a:xfrm>
            <a:off x="4800600" y="1600200"/>
            <a:ext cx="777240" cy="201168"/>
          </a:xfrm>
          <a:prstGeom prst="rect">
            <a:avLst/>
          </a:prstGeom>
          <a:noFill/>
          <a:ln/>
        </p:spPr>
        <p:txBody>
          <a:bodyPr wrap="square" lIns="0" tIns="0" rIns="0" bIns="0" rtlCol="0" anchor="ctr"/>
          <a:lstStyle/>
          <a:p>
            <a:pPr algn="ctr" indent="0" marL="0">
              <a:buNone/>
            </a:pPr>
            <a:r>
              <a:rPr lang="en-US" sz="900" dirty="0">
                <a:solidFill>
                  <a:srgbClr val="00C2CB"/>
                </a:solidFill>
              </a:rPr>
              <a:t>trigger</a:t>
            </a:r>
            <a:endParaRPr lang="en-US" sz="900" dirty="0"/>
          </a:p>
        </p:txBody>
      </p:sp>
      <p:sp>
        <p:nvSpPr>
          <p:cNvPr id="16" name="Shape 13"/>
          <p:cNvSpPr/>
          <p:nvPr/>
        </p:nvSpPr>
        <p:spPr>
          <a:xfrm>
            <a:off x="5577840" y="1371600"/>
            <a:ext cx="2194560" cy="914400"/>
          </a:xfrm>
          <a:prstGeom prst="rect">
            <a:avLst/>
          </a:prstGeom>
          <a:solidFill>
            <a:srgbClr val="1E3147"/>
          </a:solidFill>
          <a:ln w="12700">
            <a:solidFill>
              <a:srgbClr val="0F9BAC"/>
            </a:solidFill>
            <a:prstDash val="solid"/>
          </a:ln>
        </p:spPr>
      </p:sp>
      <p:sp>
        <p:nvSpPr>
          <p:cNvPr id="17" name="Text 14"/>
          <p:cNvSpPr/>
          <p:nvPr/>
        </p:nvSpPr>
        <p:spPr>
          <a:xfrm>
            <a:off x="5669280" y="1490472"/>
            <a:ext cx="2011680" cy="274320"/>
          </a:xfrm>
          <a:prstGeom prst="rect">
            <a:avLst/>
          </a:prstGeom>
          <a:noFill/>
          <a:ln/>
        </p:spPr>
        <p:txBody>
          <a:bodyPr wrap="square" lIns="0" tIns="0" rIns="0" bIns="0" rtlCol="0" anchor="ctr"/>
          <a:lstStyle/>
          <a:p>
            <a:pPr indent="0" marL="0">
              <a:buNone/>
            </a:pPr>
            <a:r>
              <a:rPr lang="en-US" sz="1200" b="1" dirty="0">
                <a:solidFill>
                  <a:srgbClr val="FFFFFF"/>
                </a:solidFill>
              </a:rPr>
              <a:t>⚙️ CI/CD Pipeline</a:t>
            </a:r>
            <a:endParaRPr lang="en-US" sz="1200" dirty="0"/>
          </a:p>
        </p:txBody>
      </p:sp>
      <p:sp>
        <p:nvSpPr>
          <p:cNvPr id="18" name="Text 15"/>
          <p:cNvSpPr/>
          <p:nvPr/>
        </p:nvSpPr>
        <p:spPr>
          <a:xfrm>
            <a:off x="5669280" y="1810512"/>
            <a:ext cx="1965960" cy="228600"/>
          </a:xfrm>
          <a:prstGeom prst="rect">
            <a:avLst/>
          </a:prstGeom>
          <a:noFill/>
          <a:ln/>
        </p:spPr>
        <p:txBody>
          <a:bodyPr wrap="square" lIns="0" tIns="0" rIns="0" bIns="0" rtlCol="0" anchor="ctr"/>
          <a:lstStyle/>
          <a:p>
            <a:pPr indent="0" marL="0">
              <a:buNone/>
            </a:pPr>
            <a:r>
              <a:rPr lang="en-US" sz="1000" dirty="0">
                <a:solidFill>
                  <a:srgbClr val="00B37D"/>
                </a:solidFill>
                <a:latin typeface="Consolas" pitchFamily="34" charset="0"/>
                <a:ea typeface="Consolas" pitchFamily="34" charset="-122"/>
                <a:cs typeface="Consolas" pitchFamily="34" charset="-120"/>
              </a:rPr>
              <a:t>test → build</a:t>
            </a:r>
            <a:endParaRPr lang="en-US" sz="1000" dirty="0"/>
          </a:p>
        </p:txBody>
      </p:sp>
      <p:sp>
        <p:nvSpPr>
          <p:cNvPr id="19" name="Text 16"/>
          <p:cNvSpPr/>
          <p:nvPr/>
        </p:nvSpPr>
        <p:spPr>
          <a:xfrm>
            <a:off x="5669280" y="2039112"/>
            <a:ext cx="1965960" cy="201168"/>
          </a:xfrm>
          <a:prstGeom prst="rect">
            <a:avLst/>
          </a:prstGeom>
          <a:noFill/>
          <a:ln/>
        </p:spPr>
        <p:txBody>
          <a:bodyPr wrap="square" lIns="0" tIns="0" rIns="0" bIns="0" rtlCol="0" anchor="ctr"/>
          <a:lstStyle/>
          <a:p>
            <a:pPr indent="0" marL="0">
              <a:buNone/>
            </a:pPr>
            <a:r>
              <a:rPr lang="en-US" sz="1000" dirty="0">
                <a:solidFill>
                  <a:srgbClr val="00B37D"/>
                </a:solidFill>
                <a:latin typeface="Consolas" pitchFamily="34" charset="0"/>
                <a:ea typeface="Consolas" pitchFamily="34" charset="-122"/>
                <a:cs typeface="Consolas" pitchFamily="34" charset="-120"/>
              </a:rPr>
              <a:t>pass ✓ → deploy</a:t>
            </a:r>
            <a:endParaRPr lang="en-US" sz="1000" dirty="0"/>
          </a:p>
        </p:txBody>
      </p:sp>
      <p:sp>
        <p:nvSpPr>
          <p:cNvPr id="20" name="Shape 17"/>
          <p:cNvSpPr/>
          <p:nvPr/>
        </p:nvSpPr>
        <p:spPr>
          <a:xfrm>
            <a:off x="5943600" y="2304288"/>
            <a:ext cx="0" cy="457200"/>
          </a:xfrm>
          <a:prstGeom prst="line">
            <a:avLst/>
          </a:prstGeom>
          <a:noFill/>
          <a:ln w="25400">
            <a:solidFill>
              <a:srgbClr val="00C2CB"/>
            </a:solidFill>
            <a:prstDash val="solid"/>
          </a:ln>
        </p:spPr>
      </p:sp>
      <p:sp>
        <p:nvSpPr>
          <p:cNvPr id="21" name="Text 18"/>
          <p:cNvSpPr/>
          <p:nvPr/>
        </p:nvSpPr>
        <p:spPr>
          <a:xfrm>
            <a:off x="5989320" y="2377440"/>
            <a:ext cx="548640" cy="182880"/>
          </a:xfrm>
          <a:prstGeom prst="rect">
            <a:avLst/>
          </a:prstGeom>
          <a:noFill/>
          <a:ln/>
        </p:spPr>
        <p:txBody>
          <a:bodyPr wrap="square" lIns="0" tIns="0" rIns="0" bIns="0" rtlCol="0" anchor="ctr"/>
          <a:lstStyle/>
          <a:p>
            <a:pPr indent="0" marL="0">
              <a:buNone/>
            </a:pPr>
            <a:r>
              <a:rPr lang="en-US" sz="900" dirty="0">
                <a:solidFill>
                  <a:srgbClr val="00C2CB"/>
                </a:solidFill>
              </a:rPr>
              <a:t>auto</a:t>
            </a:r>
            <a:endParaRPr lang="en-US" sz="900" dirty="0"/>
          </a:p>
        </p:txBody>
      </p:sp>
      <p:sp>
        <p:nvSpPr>
          <p:cNvPr id="22" name="Shape 19"/>
          <p:cNvSpPr/>
          <p:nvPr/>
        </p:nvSpPr>
        <p:spPr>
          <a:xfrm>
            <a:off x="7406640" y="2304288"/>
            <a:ext cx="0" cy="457200"/>
          </a:xfrm>
          <a:prstGeom prst="line">
            <a:avLst/>
          </a:prstGeom>
          <a:noFill/>
          <a:ln w="25400">
            <a:solidFill>
              <a:srgbClr val="00C2CB"/>
            </a:solidFill>
            <a:prstDash val="solid"/>
          </a:ln>
        </p:spPr>
      </p:sp>
      <p:sp>
        <p:nvSpPr>
          <p:cNvPr id="23" name="Text 20"/>
          <p:cNvSpPr/>
          <p:nvPr/>
        </p:nvSpPr>
        <p:spPr>
          <a:xfrm>
            <a:off x="7452360" y="2377440"/>
            <a:ext cx="502920" cy="182880"/>
          </a:xfrm>
          <a:prstGeom prst="rect">
            <a:avLst/>
          </a:prstGeom>
          <a:noFill/>
          <a:ln/>
        </p:spPr>
        <p:txBody>
          <a:bodyPr wrap="square" lIns="0" tIns="0" rIns="0" bIns="0" rtlCol="0" anchor="ctr"/>
          <a:lstStyle/>
          <a:p>
            <a:pPr indent="0" marL="0">
              <a:buNone/>
            </a:pPr>
            <a:r>
              <a:rPr lang="en-US" sz="900" dirty="0">
                <a:solidFill>
                  <a:srgbClr val="00C2CB"/>
                </a:solidFill>
              </a:rPr>
              <a:t>hook</a:t>
            </a:r>
            <a:endParaRPr lang="en-US" sz="900" dirty="0"/>
          </a:p>
        </p:txBody>
      </p:sp>
      <p:sp>
        <p:nvSpPr>
          <p:cNvPr id="24" name="Shape 21"/>
          <p:cNvSpPr/>
          <p:nvPr/>
        </p:nvSpPr>
        <p:spPr>
          <a:xfrm>
            <a:off x="4846320" y="2788920"/>
            <a:ext cx="1920240" cy="1051560"/>
          </a:xfrm>
          <a:prstGeom prst="rect">
            <a:avLst/>
          </a:prstGeom>
          <a:solidFill>
            <a:srgbClr val="000000"/>
          </a:solidFill>
          <a:ln w="12700">
            <a:solidFill>
              <a:srgbClr val="00C2CB"/>
            </a:solidFill>
            <a:prstDash val="solid"/>
          </a:ln>
        </p:spPr>
      </p:sp>
      <p:sp>
        <p:nvSpPr>
          <p:cNvPr id="25" name="Text 22"/>
          <p:cNvSpPr/>
          <p:nvPr/>
        </p:nvSpPr>
        <p:spPr>
          <a:xfrm>
            <a:off x="4937760" y="2907792"/>
            <a:ext cx="1737360" cy="292608"/>
          </a:xfrm>
          <a:prstGeom prst="rect">
            <a:avLst/>
          </a:prstGeom>
          <a:noFill/>
          <a:ln/>
        </p:spPr>
        <p:txBody>
          <a:bodyPr wrap="square" lIns="0" tIns="0" rIns="0" bIns="0" rtlCol="0" anchor="ctr"/>
          <a:lstStyle/>
          <a:p>
            <a:pPr indent="0" marL="0">
              <a:buNone/>
            </a:pPr>
            <a:r>
              <a:rPr lang="en-US" sz="1400" b="1" dirty="0">
                <a:solidFill>
                  <a:srgbClr val="FFFFFF"/>
                </a:solidFill>
              </a:rPr>
              <a:t>▲ Vercel</a:t>
            </a:r>
            <a:endParaRPr lang="en-US" sz="1400" dirty="0"/>
          </a:p>
        </p:txBody>
      </p:sp>
      <p:sp>
        <p:nvSpPr>
          <p:cNvPr id="26" name="Text 23"/>
          <p:cNvSpPr/>
          <p:nvPr/>
        </p:nvSpPr>
        <p:spPr>
          <a:xfrm>
            <a:off x="4937760" y="3218688"/>
            <a:ext cx="1783080" cy="201168"/>
          </a:xfrm>
          <a:prstGeom prst="rect">
            <a:avLst/>
          </a:prstGeom>
          <a:noFill/>
          <a:ln/>
        </p:spPr>
        <p:txBody>
          <a:bodyPr wrap="square" lIns="0" tIns="0" rIns="0" bIns="0" rtlCol="0" anchor="ctr"/>
          <a:lstStyle/>
          <a:p>
            <a:pPr indent="0" marL="0">
              <a:buNone/>
            </a:pPr>
            <a:r>
              <a:rPr lang="en-US" sz="950" dirty="0">
                <a:solidFill>
                  <a:srgbClr val="6E8FAA"/>
                </a:solidFill>
              </a:rPr>
              <a:t>Frontend (React/Next)</a:t>
            </a:r>
            <a:endParaRPr lang="en-US" sz="950" dirty="0"/>
          </a:p>
        </p:txBody>
      </p:sp>
      <p:sp>
        <p:nvSpPr>
          <p:cNvPr id="27" name="Text 24"/>
          <p:cNvSpPr/>
          <p:nvPr/>
        </p:nvSpPr>
        <p:spPr>
          <a:xfrm>
            <a:off x="4937760" y="3447288"/>
            <a:ext cx="1783080" cy="201168"/>
          </a:xfrm>
          <a:prstGeom prst="rect">
            <a:avLst/>
          </a:prstGeom>
          <a:noFill/>
          <a:ln/>
        </p:spPr>
        <p:txBody>
          <a:bodyPr wrap="square" lIns="0" tIns="0" rIns="0" bIns="0" rtlCol="0" anchor="ctr"/>
          <a:lstStyle/>
          <a:p>
            <a:pPr indent="0" marL="0">
              <a:buNone/>
            </a:pPr>
            <a:r>
              <a:rPr lang="en-US" sz="950" dirty="0">
                <a:solidFill>
                  <a:srgbClr val="00B37D"/>
                </a:solidFill>
              </a:rPr>
              <a:t>Auto detect &amp; deploy</a:t>
            </a:r>
            <a:endParaRPr lang="en-US" sz="950" dirty="0"/>
          </a:p>
        </p:txBody>
      </p:sp>
      <p:sp>
        <p:nvSpPr>
          <p:cNvPr id="28" name="Shape 25"/>
          <p:cNvSpPr/>
          <p:nvPr/>
        </p:nvSpPr>
        <p:spPr>
          <a:xfrm>
            <a:off x="6903720" y="2788920"/>
            <a:ext cx="1920240" cy="1051560"/>
          </a:xfrm>
          <a:prstGeom prst="rect">
            <a:avLst/>
          </a:prstGeom>
          <a:solidFill>
            <a:srgbClr val="46029B"/>
          </a:solidFill>
          <a:ln w="12700">
            <a:solidFill>
              <a:srgbClr val="00C2CB"/>
            </a:solidFill>
            <a:prstDash val="solid"/>
          </a:ln>
        </p:spPr>
      </p:sp>
      <p:sp>
        <p:nvSpPr>
          <p:cNvPr id="29" name="Text 26"/>
          <p:cNvSpPr/>
          <p:nvPr/>
        </p:nvSpPr>
        <p:spPr>
          <a:xfrm>
            <a:off x="6995160" y="2907792"/>
            <a:ext cx="1737360" cy="292608"/>
          </a:xfrm>
          <a:prstGeom prst="rect">
            <a:avLst/>
          </a:prstGeom>
          <a:noFill/>
          <a:ln/>
        </p:spPr>
        <p:txBody>
          <a:bodyPr wrap="square" lIns="0" tIns="0" rIns="0" bIns="0" rtlCol="0" anchor="ctr"/>
          <a:lstStyle/>
          <a:p>
            <a:pPr indent="0" marL="0">
              <a:buNone/>
            </a:pPr>
            <a:r>
              <a:rPr lang="en-US" sz="1400" b="1" dirty="0">
                <a:solidFill>
                  <a:srgbClr val="FFFFFF"/>
                </a:solidFill>
              </a:rPr>
              <a:t>⚡ Render</a:t>
            </a:r>
            <a:endParaRPr lang="en-US" sz="1400" dirty="0"/>
          </a:p>
        </p:txBody>
      </p:sp>
      <p:sp>
        <p:nvSpPr>
          <p:cNvPr id="30" name="Text 27"/>
          <p:cNvSpPr/>
          <p:nvPr/>
        </p:nvSpPr>
        <p:spPr>
          <a:xfrm>
            <a:off x="6995160" y="3218688"/>
            <a:ext cx="1783080" cy="201168"/>
          </a:xfrm>
          <a:prstGeom prst="rect">
            <a:avLst/>
          </a:prstGeom>
          <a:noFill/>
          <a:ln/>
        </p:spPr>
        <p:txBody>
          <a:bodyPr wrap="square" lIns="0" tIns="0" rIns="0" bIns="0" rtlCol="0" anchor="ctr"/>
          <a:lstStyle/>
          <a:p>
            <a:pPr indent="0" marL="0">
              <a:buNone/>
            </a:pPr>
            <a:r>
              <a:rPr lang="en-US" sz="950" dirty="0">
                <a:solidFill>
                  <a:srgbClr val="6E8FAA"/>
                </a:solidFill>
              </a:rPr>
              <a:t>Backend (Express/Node)</a:t>
            </a:r>
            <a:endParaRPr lang="en-US" sz="950" dirty="0"/>
          </a:p>
        </p:txBody>
      </p:sp>
      <p:sp>
        <p:nvSpPr>
          <p:cNvPr id="31" name="Text 28"/>
          <p:cNvSpPr/>
          <p:nvPr/>
        </p:nvSpPr>
        <p:spPr>
          <a:xfrm>
            <a:off x="6995160" y="3447288"/>
            <a:ext cx="1783080" cy="201168"/>
          </a:xfrm>
          <a:prstGeom prst="rect">
            <a:avLst/>
          </a:prstGeom>
          <a:noFill/>
          <a:ln/>
        </p:spPr>
        <p:txBody>
          <a:bodyPr wrap="square" lIns="0" tIns="0" rIns="0" bIns="0" rtlCol="0" anchor="ctr"/>
          <a:lstStyle/>
          <a:p>
            <a:pPr indent="0" marL="0">
              <a:buNone/>
            </a:pPr>
            <a:r>
              <a:rPr lang="en-US" sz="950" dirty="0">
                <a:solidFill>
                  <a:srgbClr val="00B37D"/>
                </a:solidFill>
              </a:rPr>
              <a:t>Deploy Hook trigger</a:t>
            </a:r>
            <a:endParaRPr lang="en-US" sz="950" dirty="0"/>
          </a:p>
        </p:txBody>
      </p:sp>
      <p:sp>
        <p:nvSpPr>
          <p:cNvPr id="32" name="Shape 29"/>
          <p:cNvSpPr/>
          <p:nvPr/>
        </p:nvSpPr>
        <p:spPr>
          <a:xfrm>
            <a:off x="274320" y="2788920"/>
            <a:ext cx="4343400" cy="2240280"/>
          </a:xfrm>
          <a:prstGeom prst="rect">
            <a:avLst/>
          </a:prstGeom>
          <a:solidFill>
            <a:srgbClr val="FFFFFF"/>
          </a:solidFill>
          <a:ln w="12700">
            <a:solidFill>
              <a:srgbClr val="D0DDE8"/>
            </a:solidFill>
            <a:prstDash val="solid"/>
          </a:ln>
        </p:spPr>
      </p:sp>
      <p:sp>
        <p:nvSpPr>
          <p:cNvPr id="33" name="Text 30"/>
          <p:cNvSpPr/>
          <p:nvPr/>
        </p:nvSpPr>
        <p:spPr>
          <a:xfrm>
            <a:off x="457200" y="2880360"/>
            <a:ext cx="3657600" cy="292608"/>
          </a:xfrm>
          <a:prstGeom prst="rect">
            <a:avLst/>
          </a:prstGeom>
          <a:noFill/>
          <a:ln/>
        </p:spPr>
        <p:txBody>
          <a:bodyPr wrap="square" lIns="0" tIns="0" rIns="0" bIns="0" rtlCol="0" anchor="ctr"/>
          <a:lstStyle/>
          <a:p>
            <a:pPr indent="0" marL="0">
              <a:buNone/>
            </a:pPr>
            <a:r>
              <a:rPr lang="en-US" sz="1300" b="1" dirty="0">
                <a:solidFill>
                  <a:srgbClr val="1A2535"/>
                </a:solidFill>
              </a:rPr>
              <a:t>Setup Steps</a:t>
            </a:r>
            <a:endParaRPr lang="en-US" sz="1300" dirty="0"/>
          </a:p>
        </p:txBody>
      </p:sp>
      <p:sp>
        <p:nvSpPr>
          <p:cNvPr id="34" name="Shape 31"/>
          <p:cNvSpPr/>
          <p:nvPr/>
        </p:nvSpPr>
        <p:spPr>
          <a:xfrm>
            <a:off x="457200" y="3227832"/>
            <a:ext cx="256032" cy="256032"/>
          </a:xfrm>
          <a:prstGeom prst="ellipse">
            <a:avLst/>
          </a:prstGeom>
          <a:solidFill>
            <a:srgbClr val="065A82"/>
          </a:solidFill>
          <a:ln w="12700">
            <a:solidFill>
              <a:srgbClr val="065A82"/>
            </a:solidFill>
            <a:prstDash val="solid"/>
          </a:ln>
        </p:spPr>
      </p:sp>
      <p:sp>
        <p:nvSpPr>
          <p:cNvPr id="35" name="Text 32"/>
          <p:cNvSpPr/>
          <p:nvPr/>
        </p:nvSpPr>
        <p:spPr>
          <a:xfrm>
            <a:off x="457200" y="323697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36" name="Text 33"/>
          <p:cNvSpPr/>
          <p:nvPr/>
        </p:nvSpPr>
        <p:spPr>
          <a:xfrm>
            <a:off x="822960" y="3227832"/>
            <a:ext cx="640080" cy="256032"/>
          </a:xfrm>
          <a:prstGeom prst="rect">
            <a:avLst/>
          </a:prstGeom>
          <a:noFill/>
          <a:ln/>
        </p:spPr>
        <p:txBody>
          <a:bodyPr wrap="square" lIns="0" tIns="0" rIns="0" bIns="0" rtlCol="0" anchor="ctr"/>
          <a:lstStyle/>
          <a:p>
            <a:pPr indent="0" marL="0">
              <a:buNone/>
            </a:pPr>
            <a:r>
              <a:rPr lang="en-US" sz="1100" b="1" dirty="0">
                <a:solidFill>
                  <a:srgbClr val="065A82"/>
                </a:solidFill>
              </a:rPr>
              <a:t>Vercel:</a:t>
            </a:r>
            <a:endParaRPr lang="en-US" sz="1100" dirty="0"/>
          </a:p>
        </p:txBody>
      </p:sp>
      <p:sp>
        <p:nvSpPr>
          <p:cNvPr id="37" name="Text 34"/>
          <p:cNvSpPr/>
          <p:nvPr/>
        </p:nvSpPr>
        <p:spPr>
          <a:xfrm>
            <a:off x="1481328" y="3227832"/>
            <a:ext cx="3017520" cy="475488"/>
          </a:xfrm>
          <a:prstGeom prst="rect">
            <a:avLst/>
          </a:prstGeom>
          <a:noFill/>
          <a:ln/>
        </p:spPr>
        <p:txBody>
          <a:bodyPr wrap="square" lIns="0" tIns="0" rIns="0" bIns="0" rtlCol="0" anchor="ctr"/>
          <a:lstStyle/>
          <a:p>
            <a:pPr indent="0" marL="0">
              <a:lnSpc>
                <a:spcPct val="120000"/>
              </a:lnSpc>
              <a:buNone/>
            </a:pPr>
            <a:r>
              <a:rPr lang="en-US" sz="1000" dirty="0">
                <a:solidFill>
                  <a:srgbClr val="1A2535"/>
                </a:solidFill>
              </a:rPr>
              <a:t>Connect GitHub repo → auto detect framework → paste VERCEL_TOKEN vào Secrets</a:t>
            </a:r>
            <a:endParaRPr lang="en-US" sz="1000" dirty="0"/>
          </a:p>
        </p:txBody>
      </p:sp>
      <p:sp>
        <p:nvSpPr>
          <p:cNvPr id="38" name="Shape 35"/>
          <p:cNvSpPr/>
          <p:nvPr/>
        </p:nvSpPr>
        <p:spPr>
          <a:xfrm>
            <a:off x="457200" y="3803904"/>
            <a:ext cx="256032" cy="256032"/>
          </a:xfrm>
          <a:prstGeom prst="ellipse">
            <a:avLst/>
          </a:prstGeom>
          <a:solidFill>
            <a:srgbClr val="065A82"/>
          </a:solidFill>
          <a:ln w="12700">
            <a:solidFill>
              <a:srgbClr val="065A82"/>
            </a:solidFill>
            <a:prstDash val="solid"/>
          </a:ln>
        </p:spPr>
      </p:sp>
      <p:sp>
        <p:nvSpPr>
          <p:cNvPr id="39" name="Text 36"/>
          <p:cNvSpPr/>
          <p:nvPr/>
        </p:nvSpPr>
        <p:spPr>
          <a:xfrm>
            <a:off x="457200" y="381304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40" name="Text 37"/>
          <p:cNvSpPr/>
          <p:nvPr/>
        </p:nvSpPr>
        <p:spPr>
          <a:xfrm>
            <a:off x="822960" y="3803904"/>
            <a:ext cx="640080" cy="256032"/>
          </a:xfrm>
          <a:prstGeom prst="rect">
            <a:avLst/>
          </a:prstGeom>
          <a:noFill/>
          <a:ln/>
        </p:spPr>
        <p:txBody>
          <a:bodyPr wrap="square" lIns="0" tIns="0" rIns="0" bIns="0" rtlCol="0" anchor="ctr"/>
          <a:lstStyle/>
          <a:p>
            <a:pPr indent="0" marL="0">
              <a:buNone/>
            </a:pPr>
            <a:r>
              <a:rPr lang="en-US" sz="1100" b="1" dirty="0">
                <a:solidFill>
                  <a:srgbClr val="065A82"/>
                </a:solidFill>
              </a:rPr>
              <a:t>Render:</a:t>
            </a:r>
            <a:endParaRPr lang="en-US" sz="1100" dirty="0"/>
          </a:p>
        </p:txBody>
      </p:sp>
      <p:sp>
        <p:nvSpPr>
          <p:cNvPr id="41" name="Text 38"/>
          <p:cNvSpPr/>
          <p:nvPr/>
        </p:nvSpPr>
        <p:spPr>
          <a:xfrm>
            <a:off x="1481328" y="3803904"/>
            <a:ext cx="3017520" cy="475488"/>
          </a:xfrm>
          <a:prstGeom prst="rect">
            <a:avLst/>
          </a:prstGeom>
          <a:noFill/>
          <a:ln/>
        </p:spPr>
        <p:txBody>
          <a:bodyPr wrap="square" lIns="0" tIns="0" rIns="0" bIns="0" rtlCol="0" anchor="ctr"/>
          <a:lstStyle/>
          <a:p>
            <a:pPr indent="0" marL="0">
              <a:lnSpc>
                <a:spcPct val="120000"/>
              </a:lnSpc>
              <a:buNone/>
            </a:pPr>
            <a:r>
              <a:rPr lang="en-US" sz="1000" dirty="0">
                <a:solidFill>
                  <a:srgbClr val="1A2535"/>
                </a:solidFill>
              </a:rPr>
              <a:t>Web Service → connect repo → Settings → Deploy Hooks → copy URL</a:t>
            </a:r>
            <a:endParaRPr lang="en-US" sz="1000" dirty="0"/>
          </a:p>
        </p:txBody>
      </p:sp>
      <p:sp>
        <p:nvSpPr>
          <p:cNvPr id="42" name="Shape 39"/>
          <p:cNvSpPr/>
          <p:nvPr/>
        </p:nvSpPr>
        <p:spPr>
          <a:xfrm>
            <a:off x="457200" y="4379976"/>
            <a:ext cx="256032" cy="256032"/>
          </a:xfrm>
          <a:prstGeom prst="ellipse">
            <a:avLst/>
          </a:prstGeom>
          <a:solidFill>
            <a:srgbClr val="065A82"/>
          </a:solidFill>
          <a:ln w="12700">
            <a:solidFill>
              <a:srgbClr val="065A82"/>
            </a:solidFill>
            <a:prstDash val="solid"/>
          </a:ln>
        </p:spPr>
      </p:sp>
      <p:sp>
        <p:nvSpPr>
          <p:cNvPr id="43" name="Text 40"/>
          <p:cNvSpPr/>
          <p:nvPr/>
        </p:nvSpPr>
        <p:spPr>
          <a:xfrm>
            <a:off x="457200" y="43891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44" name="Text 41"/>
          <p:cNvSpPr/>
          <p:nvPr/>
        </p:nvSpPr>
        <p:spPr>
          <a:xfrm>
            <a:off x="822960" y="4379976"/>
            <a:ext cx="640080" cy="256032"/>
          </a:xfrm>
          <a:prstGeom prst="rect">
            <a:avLst/>
          </a:prstGeom>
          <a:noFill/>
          <a:ln/>
        </p:spPr>
        <p:txBody>
          <a:bodyPr wrap="square" lIns="0" tIns="0" rIns="0" bIns="0" rtlCol="0" anchor="ctr"/>
          <a:lstStyle/>
          <a:p>
            <a:pPr indent="0" marL="0">
              <a:buNone/>
            </a:pPr>
            <a:r>
              <a:rPr lang="en-US" sz="1100" b="1" dirty="0">
                <a:solidFill>
                  <a:srgbClr val="065A82"/>
                </a:solidFill>
              </a:rPr>
              <a:t>Secrets:</a:t>
            </a:r>
            <a:endParaRPr lang="en-US" sz="1100" dirty="0"/>
          </a:p>
        </p:txBody>
      </p:sp>
      <p:sp>
        <p:nvSpPr>
          <p:cNvPr id="45" name="Text 42"/>
          <p:cNvSpPr/>
          <p:nvPr/>
        </p:nvSpPr>
        <p:spPr>
          <a:xfrm>
            <a:off x="1481328" y="4379976"/>
            <a:ext cx="3017520" cy="475488"/>
          </a:xfrm>
          <a:prstGeom prst="rect">
            <a:avLst/>
          </a:prstGeom>
          <a:noFill/>
          <a:ln/>
        </p:spPr>
        <p:txBody>
          <a:bodyPr wrap="square" lIns="0" tIns="0" rIns="0" bIns="0" rtlCol="0" anchor="ctr"/>
          <a:lstStyle/>
          <a:p>
            <a:pPr indent="0" marL="0">
              <a:lnSpc>
                <a:spcPct val="120000"/>
              </a:lnSpc>
              <a:buNone/>
            </a:pPr>
            <a:r>
              <a:rPr lang="en-US" sz="1000" dirty="0">
                <a:solidFill>
                  <a:srgbClr val="1A2535"/>
                </a:solidFill>
              </a:rPr>
              <a:t>GitHub → Settings → Secrets → RENDER_DEPLOY_HOOK, VERCEL_TOKEN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37D"/>
          </a:solidFill>
          <a:ln/>
        </p:spPr>
      </p:sp>
      <p:sp>
        <p:nvSpPr>
          <p:cNvPr id="3" name="Text 1"/>
          <p:cNvSpPr/>
          <p:nvPr/>
        </p:nvSpPr>
        <p:spPr>
          <a:xfrm>
            <a:off x="320040" y="201168"/>
            <a:ext cx="8229600" cy="411480"/>
          </a:xfrm>
          <a:prstGeom prst="rect">
            <a:avLst/>
          </a:prstGeom>
          <a:noFill/>
          <a:ln/>
        </p:spPr>
        <p:txBody>
          <a:bodyPr wrap="square" lIns="0" tIns="0" rIns="0" bIns="0" rtlCol="0" anchor="ctr"/>
          <a:lstStyle/>
          <a:p>
            <a:pPr indent="0" marL="0">
              <a:buNone/>
            </a:pPr>
            <a:r>
              <a:rPr lang="en-US" sz="2000" b="1" dirty="0">
                <a:solidFill>
                  <a:srgbClr val="FFFFFF"/>
                </a:solidFill>
              </a:rPr>
              <a:t>DEMO 2 — Full Pipeline: End-to-End</a:t>
            </a:r>
            <a:endParaRPr lang="en-US" sz="2000" dirty="0"/>
          </a:p>
        </p:txBody>
      </p:sp>
      <p:sp>
        <p:nvSpPr>
          <p:cNvPr id="4" name="Shape 2"/>
          <p:cNvSpPr/>
          <p:nvPr/>
        </p:nvSpPr>
        <p:spPr>
          <a:xfrm>
            <a:off x="320040" y="777240"/>
            <a:ext cx="5074920" cy="4206240"/>
          </a:xfrm>
          <a:prstGeom prst="rect">
            <a:avLst/>
          </a:prstGeom>
          <a:solidFill>
            <a:srgbClr val="1E3147"/>
          </a:solidFill>
          <a:ln w="12700">
            <a:solidFill>
              <a:srgbClr val="2A4060"/>
            </a:solidFill>
            <a:prstDash val="solid"/>
          </a:ln>
        </p:spPr>
      </p:sp>
      <p:sp>
        <p:nvSpPr>
          <p:cNvPr id="5" name="Text 3"/>
          <p:cNvSpPr/>
          <p:nvPr/>
        </p:nvSpPr>
        <p:spPr>
          <a:xfrm>
            <a:off x="457200" y="841248"/>
            <a:ext cx="4754880" cy="201168"/>
          </a:xfrm>
          <a:prstGeom prst="rect">
            <a:avLst/>
          </a:prstGeom>
          <a:noFill/>
          <a:ln/>
        </p:spPr>
        <p:txBody>
          <a:bodyPr wrap="square" lIns="0" tIns="0" rIns="0" bIns="0" rtlCol="0" anchor="ctr"/>
          <a:lstStyle/>
          <a:p>
            <a:pPr indent="0" marL="0">
              <a:buNone/>
            </a:pPr>
            <a:r>
              <a:rPr lang="en-US" sz="950" dirty="0">
                <a:solidFill>
                  <a:srgbClr val="A8D8EA"/>
                </a:solidFill>
                <a:latin typeface="Consolas" pitchFamily="34" charset="0"/>
                <a:ea typeface="Consolas" pitchFamily="34" charset="-122"/>
                <a:cs typeface="Consolas" pitchFamily="34" charset="-120"/>
              </a:rPr>
              <a:t>  deploy:</a:t>
            </a:r>
            <a:endParaRPr lang="en-US" sz="950" dirty="0"/>
          </a:p>
        </p:txBody>
      </p:sp>
      <p:sp>
        <p:nvSpPr>
          <p:cNvPr id="6" name="Text 4"/>
          <p:cNvSpPr/>
          <p:nvPr/>
        </p:nvSpPr>
        <p:spPr>
          <a:xfrm>
            <a:off x="457200" y="1033272"/>
            <a:ext cx="4754880" cy="20116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    needs: test</a:t>
            </a:r>
            <a:endParaRPr lang="en-US" sz="950" dirty="0"/>
          </a:p>
        </p:txBody>
      </p:sp>
      <p:sp>
        <p:nvSpPr>
          <p:cNvPr id="7" name="Text 5"/>
          <p:cNvSpPr/>
          <p:nvPr/>
        </p:nvSpPr>
        <p:spPr>
          <a:xfrm>
            <a:off x="457200" y="1225296"/>
            <a:ext cx="4754880" cy="201168"/>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    if: success()</a:t>
            </a:r>
            <a:endParaRPr lang="en-US" sz="950" dirty="0"/>
          </a:p>
        </p:txBody>
      </p:sp>
      <p:sp>
        <p:nvSpPr>
          <p:cNvPr id="8" name="Text 6"/>
          <p:cNvSpPr/>
          <p:nvPr/>
        </p:nvSpPr>
        <p:spPr>
          <a:xfrm>
            <a:off x="457200" y="1417320"/>
            <a:ext cx="4754880" cy="20116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    runs-on: ubuntu-latest</a:t>
            </a:r>
            <a:endParaRPr lang="en-US" sz="950" dirty="0"/>
          </a:p>
        </p:txBody>
      </p:sp>
      <p:sp>
        <p:nvSpPr>
          <p:cNvPr id="9" name="Text 7"/>
          <p:cNvSpPr/>
          <p:nvPr/>
        </p:nvSpPr>
        <p:spPr>
          <a:xfrm>
            <a:off x="457200" y="1609344"/>
            <a:ext cx="4754880" cy="201168"/>
          </a:xfrm>
          <a:prstGeom prst="rect">
            <a:avLst/>
          </a:prstGeom>
          <a:noFill/>
          <a:ln/>
        </p:spPr>
        <p:txBody>
          <a:bodyPr wrap="square" lIns="0" tIns="0" rIns="0" bIns="0" rtlCol="0" anchor="ctr"/>
          <a:lstStyle/>
          <a:p>
            <a:pPr indent="0" marL="0">
              <a:buNone/>
            </a:pPr>
            <a:r>
              <a:rPr lang="en-US" sz="950" dirty="0">
                <a:solidFill>
                  <a:srgbClr val="A8D8EA"/>
                </a:solidFill>
                <a:latin typeface="Consolas" pitchFamily="34" charset="0"/>
                <a:ea typeface="Consolas" pitchFamily="34" charset="-122"/>
                <a:cs typeface="Consolas" pitchFamily="34" charset="-120"/>
              </a:rPr>
              <a:t>    steps:</a:t>
            </a:r>
            <a:endParaRPr lang="en-US" sz="950" dirty="0"/>
          </a:p>
        </p:txBody>
      </p:sp>
      <p:sp>
        <p:nvSpPr>
          <p:cNvPr id="10" name="Text 8"/>
          <p:cNvSpPr/>
          <p:nvPr/>
        </p:nvSpPr>
        <p:spPr>
          <a:xfrm>
            <a:off x="457200" y="1801368"/>
            <a:ext cx="4754880" cy="201168"/>
          </a:xfrm>
          <a:prstGeom prst="rect">
            <a:avLst/>
          </a:prstGeom>
          <a:noFill/>
          <a:ln/>
        </p:spPr>
        <p:txBody>
          <a:bodyPr wrap="square" lIns="0" tIns="0" rIns="0" bIns="0" rtlCol="0" anchor="ctr"/>
          <a:lstStyle/>
          <a:p>
            <a:pPr indent="0" marL="0">
              <a:buNone/>
            </a:pPr>
            <a:endParaRPr lang="en-US" sz="950" dirty="0"/>
          </a:p>
        </p:txBody>
      </p:sp>
      <p:sp>
        <p:nvSpPr>
          <p:cNvPr id="11" name="Text 9"/>
          <p:cNvSpPr/>
          <p:nvPr/>
        </p:nvSpPr>
        <p:spPr>
          <a:xfrm>
            <a:off x="457200" y="1993392"/>
            <a:ext cx="4754880" cy="201168"/>
          </a:xfrm>
          <a:prstGeom prst="rect">
            <a:avLst/>
          </a:prstGeom>
          <a:noFill/>
          <a:ln/>
        </p:spPr>
        <p:txBody>
          <a:bodyPr wrap="square" lIns="0" tIns="0" rIns="0" bIns="0" rtlCol="0" anchor="ctr"/>
          <a:lstStyle/>
          <a:p>
            <a:pPr indent="0" marL="0">
              <a:buNone/>
            </a:pPr>
            <a:r>
              <a:rPr lang="en-US" sz="950" dirty="0">
                <a:solidFill>
                  <a:srgbClr val="5A7A8A"/>
                </a:solidFill>
                <a:latin typeface="Consolas" pitchFamily="34" charset="0"/>
                <a:ea typeface="Consolas" pitchFamily="34" charset="-122"/>
                <a:cs typeface="Consolas" pitchFamily="34" charset="-120"/>
              </a:rPr>
              <a:t>    # Deploy Backend → Render</a:t>
            </a:r>
            <a:endParaRPr lang="en-US" sz="950" dirty="0"/>
          </a:p>
        </p:txBody>
      </p:sp>
      <p:sp>
        <p:nvSpPr>
          <p:cNvPr id="12" name="Text 10"/>
          <p:cNvSpPr/>
          <p:nvPr/>
        </p:nvSpPr>
        <p:spPr>
          <a:xfrm>
            <a:off x="457200" y="2185416"/>
            <a:ext cx="4754880" cy="20116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    - name: Deploy to Render</a:t>
            </a:r>
            <a:endParaRPr lang="en-US" sz="950" dirty="0"/>
          </a:p>
        </p:txBody>
      </p:sp>
      <p:sp>
        <p:nvSpPr>
          <p:cNvPr id="13" name="Text 11"/>
          <p:cNvSpPr/>
          <p:nvPr/>
        </p:nvSpPr>
        <p:spPr>
          <a:xfrm>
            <a:off x="457200" y="2377440"/>
            <a:ext cx="4754880" cy="20116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      run: |</a:t>
            </a:r>
            <a:endParaRPr lang="en-US" sz="950" dirty="0"/>
          </a:p>
        </p:txBody>
      </p:sp>
      <p:sp>
        <p:nvSpPr>
          <p:cNvPr id="14" name="Text 12"/>
          <p:cNvSpPr/>
          <p:nvPr/>
        </p:nvSpPr>
        <p:spPr>
          <a:xfrm>
            <a:off x="457200" y="2569464"/>
            <a:ext cx="4754880" cy="201168"/>
          </a:xfrm>
          <a:prstGeom prst="rect">
            <a:avLst/>
          </a:prstGeom>
          <a:noFill/>
          <a:ln/>
        </p:spPr>
        <p:txBody>
          <a:bodyPr wrap="square" lIns="0" tIns="0" rIns="0" bIns="0" rtlCol="0" anchor="ctr"/>
          <a:lstStyle/>
          <a:p>
            <a:pPr indent="0" marL="0">
              <a:buNone/>
            </a:pPr>
            <a:r>
              <a:rPr lang="en-US" sz="950" dirty="0">
                <a:solidFill>
                  <a:srgbClr val="00B37D"/>
                </a:solidFill>
                <a:latin typeface="Consolas" pitchFamily="34" charset="0"/>
                <a:ea typeface="Consolas" pitchFamily="34" charset="-122"/>
                <a:cs typeface="Consolas" pitchFamily="34" charset="-120"/>
              </a:rPr>
              <a:t>        curl -X POST \</a:t>
            </a:r>
            <a:endParaRPr lang="en-US" sz="950" dirty="0"/>
          </a:p>
        </p:txBody>
      </p:sp>
      <p:sp>
        <p:nvSpPr>
          <p:cNvPr id="15" name="Text 13"/>
          <p:cNvSpPr/>
          <p:nvPr/>
        </p:nvSpPr>
        <p:spPr>
          <a:xfrm>
            <a:off x="457200" y="2761488"/>
            <a:ext cx="4754880" cy="201168"/>
          </a:xfrm>
          <a:prstGeom prst="rect">
            <a:avLst/>
          </a:prstGeom>
          <a:noFill/>
          <a:ln/>
        </p:spPr>
        <p:txBody>
          <a:bodyPr wrap="square" lIns="0" tIns="0" rIns="0" bIns="0" rtlCol="0" anchor="ctr"/>
          <a:lstStyle/>
          <a:p>
            <a:pPr indent="0" marL="0">
              <a:buNone/>
            </a:pPr>
            <a:r>
              <a:rPr lang="en-US" sz="950" dirty="0">
                <a:solidFill>
                  <a:srgbClr val="00B37D"/>
                </a:solidFill>
                <a:latin typeface="Consolas" pitchFamily="34" charset="0"/>
                <a:ea typeface="Consolas" pitchFamily="34" charset="-122"/>
                <a:cs typeface="Consolas" pitchFamily="34" charset="-120"/>
              </a:rPr>
              <a:t>        "${{ secrets.</a:t>
            </a:r>
            <a:endParaRPr lang="en-US" sz="950" dirty="0"/>
          </a:p>
        </p:txBody>
      </p:sp>
      <p:sp>
        <p:nvSpPr>
          <p:cNvPr id="16" name="Text 14"/>
          <p:cNvSpPr/>
          <p:nvPr/>
        </p:nvSpPr>
        <p:spPr>
          <a:xfrm>
            <a:off x="457200" y="2953512"/>
            <a:ext cx="4754880" cy="201168"/>
          </a:xfrm>
          <a:prstGeom prst="rect">
            <a:avLst/>
          </a:prstGeom>
          <a:noFill/>
          <a:ln/>
        </p:spPr>
        <p:txBody>
          <a:bodyPr wrap="square" lIns="0" tIns="0" rIns="0" bIns="0" rtlCol="0" anchor="ctr"/>
          <a:lstStyle/>
          <a:p>
            <a:pPr indent="0" marL="0">
              <a:buNone/>
            </a:pPr>
            <a:r>
              <a:rPr lang="en-US" sz="950" dirty="0">
                <a:solidFill>
                  <a:srgbClr val="00C2CB"/>
                </a:solidFill>
                <a:latin typeface="Consolas" pitchFamily="34" charset="0"/>
                <a:ea typeface="Consolas" pitchFamily="34" charset="-122"/>
                <a:cs typeface="Consolas" pitchFamily="34" charset="-120"/>
              </a:rPr>
              <a:t>          RENDER_HOOK }}</a:t>
            </a:r>
            <a:endParaRPr lang="en-US" sz="950" dirty="0"/>
          </a:p>
        </p:txBody>
      </p:sp>
      <p:sp>
        <p:nvSpPr>
          <p:cNvPr id="17" name="Text 15"/>
          <p:cNvSpPr/>
          <p:nvPr/>
        </p:nvSpPr>
        <p:spPr>
          <a:xfrm>
            <a:off x="457200" y="3145536"/>
            <a:ext cx="4754880" cy="201168"/>
          </a:xfrm>
          <a:prstGeom prst="rect">
            <a:avLst/>
          </a:prstGeom>
          <a:noFill/>
          <a:ln/>
        </p:spPr>
        <p:txBody>
          <a:bodyPr wrap="square" lIns="0" tIns="0" rIns="0" bIns="0" rtlCol="0" anchor="ctr"/>
          <a:lstStyle/>
          <a:p>
            <a:pPr indent="0" marL="0">
              <a:buNone/>
            </a:pPr>
            <a:endParaRPr lang="en-US" sz="950" dirty="0"/>
          </a:p>
        </p:txBody>
      </p:sp>
      <p:sp>
        <p:nvSpPr>
          <p:cNvPr id="18" name="Text 16"/>
          <p:cNvSpPr/>
          <p:nvPr/>
        </p:nvSpPr>
        <p:spPr>
          <a:xfrm>
            <a:off x="457200" y="3337560"/>
            <a:ext cx="4754880" cy="201168"/>
          </a:xfrm>
          <a:prstGeom prst="rect">
            <a:avLst/>
          </a:prstGeom>
          <a:noFill/>
          <a:ln/>
        </p:spPr>
        <p:txBody>
          <a:bodyPr wrap="square" lIns="0" tIns="0" rIns="0" bIns="0" rtlCol="0" anchor="ctr"/>
          <a:lstStyle/>
          <a:p>
            <a:pPr indent="0" marL="0">
              <a:buNone/>
            </a:pPr>
            <a:r>
              <a:rPr lang="en-US" sz="950" dirty="0">
                <a:solidFill>
                  <a:srgbClr val="5A7A8A"/>
                </a:solidFill>
                <a:latin typeface="Consolas" pitchFamily="34" charset="0"/>
                <a:ea typeface="Consolas" pitchFamily="34" charset="-122"/>
                <a:cs typeface="Consolas" pitchFamily="34" charset="-120"/>
              </a:rPr>
              <a:t>    # Deploy Frontend → Vercel</a:t>
            </a:r>
            <a:endParaRPr lang="en-US" sz="950" dirty="0"/>
          </a:p>
        </p:txBody>
      </p:sp>
      <p:sp>
        <p:nvSpPr>
          <p:cNvPr id="19" name="Text 17"/>
          <p:cNvSpPr/>
          <p:nvPr/>
        </p:nvSpPr>
        <p:spPr>
          <a:xfrm>
            <a:off x="457200" y="3529584"/>
            <a:ext cx="4754880" cy="20116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    - name: Deploy to Vercel</a:t>
            </a:r>
            <a:endParaRPr lang="en-US" sz="950" dirty="0"/>
          </a:p>
        </p:txBody>
      </p:sp>
      <p:sp>
        <p:nvSpPr>
          <p:cNvPr id="20" name="Text 18"/>
          <p:cNvSpPr/>
          <p:nvPr/>
        </p:nvSpPr>
        <p:spPr>
          <a:xfrm>
            <a:off x="457200" y="3721608"/>
            <a:ext cx="4754880" cy="201168"/>
          </a:xfrm>
          <a:prstGeom prst="rect">
            <a:avLst/>
          </a:prstGeom>
          <a:noFill/>
          <a:ln/>
        </p:spPr>
        <p:txBody>
          <a:bodyPr wrap="square" lIns="0" tIns="0" rIns="0" bIns="0" rtlCol="0" anchor="ctr"/>
          <a:lstStyle/>
          <a:p>
            <a:pPr indent="0" marL="0">
              <a:buNone/>
            </a:pPr>
            <a:r>
              <a:rPr lang="en-US" sz="950" dirty="0">
                <a:solidFill>
                  <a:srgbClr val="00B37D"/>
                </a:solidFill>
                <a:latin typeface="Consolas" pitchFamily="34" charset="0"/>
                <a:ea typeface="Consolas" pitchFamily="34" charset="-122"/>
                <a:cs typeface="Consolas" pitchFamily="34" charset="-120"/>
              </a:rPr>
              <a:t>      uses: amondnet/</a:t>
            </a:r>
            <a:endParaRPr lang="en-US" sz="950" dirty="0"/>
          </a:p>
        </p:txBody>
      </p:sp>
      <p:sp>
        <p:nvSpPr>
          <p:cNvPr id="21" name="Text 19"/>
          <p:cNvSpPr/>
          <p:nvPr/>
        </p:nvSpPr>
        <p:spPr>
          <a:xfrm>
            <a:off x="457200" y="3913632"/>
            <a:ext cx="4754880" cy="201168"/>
          </a:xfrm>
          <a:prstGeom prst="rect">
            <a:avLst/>
          </a:prstGeom>
          <a:noFill/>
          <a:ln/>
        </p:spPr>
        <p:txBody>
          <a:bodyPr wrap="square" lIns="0" tIns="0" rIns="0" bIns="0" rtlCol="0" anchor="ctr"/>
          <a:lstStyle/>
          <a:p>
            <a:pPr indent="0" marL="0">
              <a:buNone/>
            </a:pPr>
            <a:r>
              <a:rPr lang="en-US" sz="950" dirty="0">
                <a:solidFill>
                  <a:srgbClr val="00B37D"/>
                </a:solidFill>
                <a:latin typeface="Consolas" pitchFamily="34" charset="0"/>
                <a:ea typeface="Consolas" pitchFamily="34" charset="-122"/>
                <a:cs typeface="Consolas" pitchFamily="34" charset="-120"/>
              </a:rPr>
              <a:t>            vercel-action@v25</a:t>
            </a:r>
            <a:endParaRPr lang="en-US" sz="950" dirty="0"/>
          </a:p>
        </p:txBody>
      </p:sp>
      <p:sp>
        <p:nvSpPr>
          <p:cNvPr id="22" name="Text 20"/>
          <p:cNvSpPr/>
          <p:nvPr/>
        </p:nvSpPr>
        <p:spPr>
          <a:xfrm>
            <a:off x="457200" y="4105656"/>
            <a:ext cx="4754880" cy="201168"/>
          </a:xfrm>
          <a:prstGeom prst="rect">
            <a:avLst/>
          </a:prstGeom>
          <a:noFill/>
          <a:ln/>
        </p:spPr>
        <p:txBody>
          <a:bodyPr wrap="square" lIns="0" tIns="0" rIns="0" bIns="0" rtlCol="0" anchor="ctr"/>
          <a:lstStyle/>
          <a:p>
            <a:pPr indent="0" marL="0">
              <a:buNone/>
            </a:pPr>
            <a:r>
              <a:rPr lang="en-US" sz="950" dirty="0">
                <a:solidFill>
                  <a:srgbClr val="A8D8EA"/>
                </a:solidFill>
                <a:latin typeface="Consolas" pitchFamily="34" charset="0"/>
                <a:ea typeface="Consolas" pitchFamily="34" charset="-122"/>
                <a:cs typeface="Consolas" pitchFamily="34" charset="-120"/>
              </a:rPr>
              <a:t>      with:</a:t>
            </a:r>
            <a:endParaRPr lang="en-US" sz="950" dirty="0"/>
          </a:p>
        </p:txBody>
      </p:sp>
      <p:sp>
        <p:nvSpPr>
          <p:cNvPr id="23" name="Text 21"/>
          <p:cNvSpPr/>
          <p:nvPr/>
        </p:nvSpPr>
        <p:spPr>
          <a:xfrm>
            <a:off x="457200" y="4297680"/>
            <a:ext cx="4754880" cy="20116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        vercel-token: ${{</a:t>
            </a:r>
            <a:endParaRPr lang="en-US" sz="950" dirty="0"/>
          </a:p>
        </p:txBody>
      </p:sp>
      <p:sp>
        <p:nvSpPr>
          <p:cNvPr id="24" name="Text 22"/>
          <p:cNvSpPr/>
          <p:nvPr/>
        </p:nvSpPr>
        <p:spPr>
          <a:xfrm>
            <a:off x="457200" y="4489704"/>
            <a:ext cx="4754880" cy="201168"/>
          </a:xfrm>
          <a:prstGeom prst="rect">
            <a:avLst/>
          </a:prstGeom>
          <a:noFill/>
          <a:ln/>
        </p:spPr>
        <p:txBody>
          <a:bodyPr wrap="square" lIns="0" tIns="0" rIns="0" bIns="0" rtlCol="0" anchor="ctr"/>
          <a:lstStyle/>
          <a:p>
            <a:pPr indent="0" marL="0">
              <a:buNone/>
            </a:pPr>
            <a:r>
              <a:rPr lang="en-US" sz="950" dirty="0">
                <a:solidFill>
                  <a:srgbClr val="00C2CB"/>
                </a:solidFill>
                <a:latin typeface="Consolas" pitchFamily="34" charset="0"/>
                <a:ea typeface="Consolas" pitchFamily="34" charset="-122"/>
                <a:cs typeface="Consolas" pitchFamily="34" charset="-120"/>
              </a:rPr>
              <a:t>          secrets.VERCEL_TOKEN }}</a:t>
            </a:r>
            <a:endParaRPr lang="en-US" sz="950" dirty="0"/>
          </a:p>
        </p:txBody>
      </p:sp>
      <p:sp>
        <p:nvSpPr>
          <p:cNvPr id="25" name="Text 23"/>
          <p:cNvSpPr/>
          <p:nvPr/>
        </p:nvSpPr>
        <p:spPr>
          <a:xfrm>
            <a:off x="457200" y="4681728"/>
            <a:ext cx="4754880" cy="20116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        vercel-args: '--prod'</a:t>
            </a:r>
            <a:endParaRPr lang="en-US" sz="950" dirty="0"/>
          </a:p>
        </p:txBody>
      </p:sp>
      <p:sp>
        <p:nvSpPr>
          <p:cNvPr id="26" name="Shape 24"/>
          <p:cNvSpPr/>
          <p:nvPr/>
        </p:nvSpPr>
        <p:spPr>
          <a:xfrm>
            <a:off x="5623560" y="822960"/>
            <a:ext cx="3291840" cy="914400"/>
          </a:xfrm>
          <a:prstGeom prst="rect">
            <a:avLst/>
          </a:prstGeom>
          <a:solidFill>
            <a:srgbClr val="1B2A3B"/>
          </a:solidFill>
          <a:ln w="12700">
            <a:solidFill>
              <a:srgbClr val="2A4060"/>
            </a:solidFill>
            <a:prstDash val="solid"/>
          </a:ln>
        </p:spPr>
      </p:sp>
      <p:pic>
        <p:nvPicPr>
          <p:cNvPr id="27" name="Image 0" descr="preencoded.png">    </p:cNvPr>
          <p:cNvPicPr>
            <a:picLocks noChangeAspect="1"/>
          </p:cNvPicPr>
          <p:nvPr/>
        </p:nvPicPr>
        <p:blipFill>
          <a:blip r:embed="rId1"/>
          <a:stretch>
            <a:fillRect/>
          </a:stretch>
        </p:blipFill>
        <p:spPr>
          <a:xfrm>
            <a:off x="5760720" y="1024128"/>
            <a:ext cx="365760" cy="365760"/>
          </a:xfrm>
          <a:prstGeom prst="rect">
            <a:avLst/>
          </a:prstGeom>
        </p:spPr>
      </p:pic>
      <p:sp>
        <p:nvSpPr>
          <p:cNvPr id="28" name="Text 25"/>
          <p:cNvSpPr/>
          <p:nvPr/>
        </p:nvSpPr>
        <p:spPr>
          <a:xfrm>
            <a:off x="6263640" y="914400"/>
            <a:ext cx="2468880" cy="274320"/>
          </a:xfrm>
          <a:prstGeom prst="rect">
            <a:avLst/>
          </a:prstGeom>
          <a:noFill/>
          <a:ln/>
        </p:spPr>
        <p:txBody>
          <a:bodyPr wrap="square" lIns="0" tIns="0" rIns="0" bIns="0" rtlCol="0" anchor="ctr"/>
          <a:lstStyle/>
          <a:p>
            <a:pPr indent="0" marL="0">
              <a:buNone/>
            </a:pPr>
            <a:r>
              <a:rPr lang="en-US" sz="1250" b="1" dirty="0">
                <a:solidFill>
                  <a:srgbClr val="00B37D"/>
                </a:solidFill>
              </a:rPr>
              <a:t>1. Test Job chạy</a:t>
            </a:r>
            <a:endParaRPr lang="en-US" sz="1250" dirty="0"/>
          </a:p>
        </p:txBody>
      </p:sp>
      <p:sp>
        <p:nvSpPr>
          <p:cNvPr id="29" name="Text 26"/>
          <p:cNvSpPr/>
          <p:nvPr/>
        </p:nvSpPr>
        <p:spPr>
          <a:xfrm>
            <a:off x="6263640" y="1225296"/>
            <a:ext cx="2468880" cy="411480"/>
          </a:xfrm>
          <a:prstGeom prst="rect">
            <a:avLst/>
          </a:prstGeom>
          <a:noFill/>
          <a:ln/>
        </p:spPr>
        <p:txBody>
          <a:bodyPr wrap="square" lIns="0" tIns="0" rIns="0" bIns="0" rtlCol="0" anchor="ctr"/>
          <a:lstStyle/>
          <a:p>
            <a:pPr indent="0" marL="0">
              <a:lnSpc>
                <a:spcPct val="125000"/>
              </a:lnSpc>
              <a:buNone/>
            </a:pPr>
            <a:r>
              <a:rPr lang="en-US" sz="1000" dirty="0">
                <a:solidFill>
                  <a:srgbClr val="6E8FAA"/>
                </a:solidFill>
              </a:rPr>
              <a:t>npm ci + npm test + npm run build</a:t>
            </a:r>
            <a:endParaRPr lang="en-US" sz="1000" dirty="0"/>
          </a:p>
        </p:txBody>
      </p:sp>
      <p:sp>
        <p:nvSpPr>
          <p:cNvPr id="30" name="Shape 27"/>
          <p:cNvSpPr/>
          <p:nvPr/>
        </p:nvSpPr>
        <p:spPr>
          <a:xfrm>
            <a:off x="7223760" y="1737360"/>
            <a:ext cx="0" cy="137160"/>
          </a:xfrm>
          <a:prstGeom prst="line">
            <a:avLst/>
          </a:prstGeom>
          <a:noFill/>
          <a:ln w="19050">
            <a:solidFill>
              <a:srgbClr val="00C2CB"/>
            </a:solidFill>
            <a:prstDash val="solid"/>
          </a:ln>
        </p:spPr>
      </p:sp>
      <p:sp>
        <p:nvSpPr>
          <p:cNvPr id="31" name="Shape 28"/>
          <p:cNvSpPr/>
          <p:nvPr/>
        </p:nvSpPr>
        <p:spPr>
          <a:xfrm>
            <a:off x="5623560" y="1874520"/>
            <a:ext cx="3291840" cy="914400"/>
          </a:xfrm>
          <a:prstGeom prst="rect">
            <a:avLst/>
          </a:prstGeom>
          <a:solidFill>
            <a:srgbClr val="1B2A3B"/>
          </a:solidFill>
          <a:ln w="12700">
            <a:solidFill>
              <a:srgbClr val="2A4060"/>
            </a:solidFill>
            <a:prstDash val="solid"/>
          </a:ln>
        </p:spPr>
      </p:sp>
      <p:pic>
        <p:nvPicPr>
          <p:cNvPr id="32" name="Image 1" descr="preencoded.png">    </p:cNvPr>
          <p:cNvPicPr>
            <a:picLocks noChangeAspect="1"/>
          </p:cNvPicPr>
          <p:nvPr/>
        </p:nvPicPr>
        <p:blipFill>
          <a:blip r:embed="rId2"/>
          <a:stretch>
            <a:fillRect/>
          </a:stretch>
        </p:blipFill>
        <p:spPr>
          <a:xfrm>
            <a:off x="5760720" y="2075688"/>
            <a:ext cx="365760" cy="365760"/>
          </a:xfrm>
          <a:prstGeom prst="rect">
            <a:avLst/>
          </a:prstGeom>
        </p:spPr>
      </p:pic>
      <p:sp>
        <p:nvSpPr>
          <p:cNvPr id="33" name="Text 29"/>
          <p:cNvSpPr/>
          <p:nvPr/>
        </p:nvSpPr>
        <p:spPr>
          <a:xfrm>
            <a:off x="6263640" y="1965960"/>
            <a:ext cx="2468880" cy="274320"/>
          </a:xfrm>
          <a:prstGeom prst="rect">
            <a:avLst/>
          </a:prstGeom>
          <a:noFill/>
          <a:ln/>
        </p:spPr>
        <p:txBody>
          <a:bodyPr wrap="square" lIns="0" tIns="0" rIns="0" bIns="0" rtlCol="0" anchor="ctr"/>
          <a:lstStyle/>
          <a:p>
            <a:pPr indent="0" marL="0">
              <a:buNone/>
            </a:pPr>
            <a:r>
              <a:rPr lang="en-US" sz="1250" b="1" dirty="0">
                <a:solidFill>
                  <a:srgbClr val="00C2CB"/>
                </a:solidFill>
              </a:rPr>
              <a:t>2. needs: test</a:t>
            </a:r>
            <a:endParaRPr lang="en-US" sz="1250" dirty="0"/>
          </a:p>
        </p:txBody>
      </p:sp>
      <p:sp>
        <p:nvSpPr>
          <p:cNvPr id="34" name="Text 30"/>
          <p:cNvSpPr/>
          <p:nvPr/>
        </p:nvSpPr>
        <p:spPr>
          <a:xfrm>
            <a:off x="6263640" y="2276856"/>
            <a:ext cx="2468880" cy="411480"/>
          </a:xfrm>
          <a:prstGeom prst="rect">
            <a:avLst/>
          </a:prstGeom>
          <a:noFill/>
          <a:ln/>
        </p:spPr>
        <p:txBody>
          <a:bodyPr wrap="square" lIns="0" tIns="0" rIns="0" bIns="0" rtlCol="0" anchor="ctr"/>
          <a:lstStyle/>
          <a:p>
            <a:pPr indent="0" marL="0">
              <a:lnSpc>
                <a:spcPct val="125000"/>
              </a:lnSpc>
              <a:buNone/>
            </a:pPr>
            <a:r>
              <a:rPr lang="en-US" sz="1000" dirty="0">
                <a:solidFill>
                  <a:srgbClr val="6E8FAA"/>
                </a:solidFill>
              </a:rPr>
              <a:t>Deploy job chỉ chạy nếu test pass</a:t>
            </a:r>
            <a:endParaRPr lang="en-US" sz="1000" dirty="0"/>
          </a:p>
        </p:txBody>
      </p:sp>
      <p:sp>
        <p:nvSpPr>
          <p:cNvPr id="35" name="Shape 31"/>
          <p:cNvSpPr/>
          <p:nvPr/>
        </p:nvSpPr>
        <p:spPr>
          <a:xfrm>
            <a:off x="7223760" y="2788920"/>
            <a:ext cx="0" cy="137160"/>
          </a:xfrm>
          <a:prstGeom prst="line">
            <a:avLst/>
          </a:prstGeom>
          <a:noFill/>
          <a:ln w="19050">
            <a:solidFill>
              <a:srgbClr val="00C2CB"/>
            </a:solidFill>
            <a:prstDash val="solid"/>
          </a:ln>
        </p:spPr>
      </p:sp>
      <p:sp>
        <p:nvSpPr>
          <p:cNvPr id="36" name="Shape 32"/>
          <p:cNvSpPr/>
          <p:nvPr/>
        </p:nvSpPr>
        <p:spPr>
          <a:xfrm>
            <a:off x="5623560" y="2926080"/>
            <a:ext cx="3291840" cy="914400"/>
          </a:xfrm>
          <a:prstGeom prst="rect">
            <a:avLst/>
          </a:prstGeom>
          <a:solidFill>
            <a:srgbClr val="1B2A3B"/>
          </a:solidFill>
          <a:ln w="12700">
            <a:solidFill>
              <a:srgbClr val="2A4060"/>
            </a:solidFill>
            <a:prstDash val="solid"/>
          </a:ln>
        </p:spPr>
      </p:sp>
      <p:pic>
        <p:nvPicPr>
          <p:cNvPr id="37" name="Image 2" descr="preencoded.png">    </p:cNvPr>
          <p:cNvPicPr>
            <a:picLocks noChangeAspect="1"/>
          </p:cNvPicPr>
          <p:nvPr/>
        </p:nvPicPr>
        <p:blipFill>
          <a:blip r:embed="rId3"/>
          <a:stretch>
            <a:fillRect/>
          </a:stretch>
        </p:blipFill>
        <p:spPr>
          <a:xfrm>
            <a:off x="5760720" y="3127248"/>
            <a:ext cx="365760" cy="365760"/>
          </a:xfrm>
          <a:prstGeom prst="rect">
            <a:avLst/>
          </a:prstGeom>
        </p:spPr>
      </p:pic>
      <p:sp>
        <p:nvSpPr>
          <p:cNvPr id="38" name="Text 33"/>
          <p:cNvSpPr/>
          <p:nvPr/>
        </p:nvSpPr>
        <p:spPr>
          <a:xfrm>
            <a:off x="6263640" y="3017520"/>
            <a:ext cx="2468880" cy="274320"/>
          </a:xfrm>
          <a:prstGeom prst="rect">
            <a:avLst/>
          </a:prstGeom>
          <a:noFill/>
          <a:ln/>
        </p:spPr>
        <p:txBody>
          <a:bodyPr wrap="square" lIns="0" tIns="0" rIns="0" bIns="0" rtlCol="0" anchor="ctr"/>
          <a:lstStyle/>
          <a:p>
            <a:pPr indent="0" marL="0">
              <a:buNone/>
            </a:pPr>
            <a:r>
              <a:rPr lang="en-US" sz="1250" b="1" dirty="0">
                <a:solidFill>
                  <a:srgbClr val="0F9BAC"/>
                </a:solidFill>
              </a:rPr>
              <a:t>3. Render Deploy Hook</a:t>
            </a:r>
            <a:endParaRPr lang="en-US" sz="1250" dirty="0"/>
          </a:p>
        </p:txBody>
      </p:sp>
      <p:sp>
        <p:nvSpPr>
          <p:cNvPr id="39" name="Text 34"/>
          <p:cNvSpPr/>
          <p:nvPr/>
        </p:nvSpPr>
        <p:spPr>
          <a:xfrm>
            <a:off x="6263640" y="3328416"/>
            <a:ext cx="2468880" cy="411480"/>
          </a:xfrm>
          <a:prstGeom prst="rect">
            <a:avLst/>
          </a:prstGeom>
          <a:noFill/>
          <a:ln/>
        </p:spPr>
        <p:txBody>
          <a:bodyPr wrap="square" lIns="0" tIns="0" rIns="0" bIns="0" rtlCol="0" anchor="ctr"/>
          <a:lstStyle/>
          <a:p>
            <a:pPr indent="0" marL="0">
              <a:lnSpc>
                <a:spcPct val="125000"/>
              </a:lnSpc>
              <a:buNone/>
            </a:pPr>
            <a:r>
              <a:rPr lang="en-US" sz="1000" dirty="0">
                <a:solidFill>
                  <a:srgbClr val="6E8FAA"/>
                </a:solidFill>
              </a:rPr>
              <a:t>curl POST → Render tự động deploy BE</a:t>
            </a:r>
            <a:endParaRPr lang="en-US" sz="1000" dirty="0"/>
          </a:p>
        </p:txBody>
      </p:sp>
      <p:sp>
        <p:nvSpPr>
          <p:cNvPr id="40" name="Shape 35"/>
          <p:cNvSpPr/>
          <p:nvPr/>
        </p:nvSpPr>
        <p:spPr>
          <a:xfrm>
            <a:off x="7223760" y="3840480"/>
            <a:ext cx="0" cy="137160"/>
          </a:xfrm>
          <a:prstGeom prst="line">
            <a:avLst/>
          </a:prstGeom>
          <a:noFill/>
          <a:ln w="19050">
            <a:solidFill>
              <a:srgbClr val="00C2CB"/>
            </a:solidFill>
            <a:prstDash val="solid"/>
          </a:ln>
        </p:spPr>
      </p:sp>
      <p:sp>
        <p:nvSpPr>
          <p:cNvPr id="41" name="Shape 36"/>
          <p:cNvSpPr/>
          <p:nvPr/>
        </p:nvSpPr>
        <p:spPr>
          <a:xfrm>
            <a:off x="5623560" y="3977640"/>
            <a:ext cx="3291840" cy="914400"/>
          </a:xfrm>
          <a:prstGeom prst="rect">
            <a:avLst/>
          </a:prstGeom>
          <a:solidFill>
            <a:srgbClr val="1B2A3B"/>
          </a:solidFill>
          <a:ln w="12700">
            <a:solidFill>
              <a:srgbClr val="2A4060"/>
            </a:solidFill>
            <a:prstDash val="solid"/>
          </a:ln>
        </p:spPr>
      </p:sp>
      <p:pic>
        <p:nvPicPr>
          <p:cNvPr id="42" name="Image 3" descr="preencoded.png">    </p:cNvPr>
          <p:cNvPicPr>
            <a:picLocks noChangeAspect="1"/>
          </p:cNvPicPr>
          <p:nvPr/>
        </p:nvPicPr>
        <p:blipFill>
          <a:blip r:embed="rId4"/>
          <a:stretch>
            <a:fillRect/>
          </a:stretch>
        </p:blipFill>
        <p:spPr>
          <a:xfrm>
            <a:off x="5760720" y="4178808"/>
            <a:ext cx="365760" cy="365760"/>
          </a:xfrm>
          <a:prstGeom prst="rect">
            <a:avLst/>
          </a:prstGeom>
        </p:spPr>
      </p:pic>
      <p:sp>
        <p:nvSpPr>
          <p:cNvPr id="43" name="Text 37"/>
          <p:cNvSpPr/>
          <p:nvPr/>
        </p:nvSpPr>
        <p:spPr>
          <a:xfrm>
            <a:off x="6263640" y="4069080"/>
            <a:ext cx="2468880" cy="274320"/>
          </a:xfrm>
          <a:prstGeom prst="rect">
            <a:avLst/>
          </a:prstGeom>
          <a:noFill/>
          <a:ln/>
        </p:spPr>
        <p:txBody>
          <a:bodyPr wrap="square" lIns="0" tIns="0" rIns="0" bIns="0" rtlCol="0" anchor="ctr"/>
          <a:lstStyle/>
          <a:p>
            <a:pPr indent="0" marL="0">
              <a:buNone/>
            </a:pPr>
            <a:r>
              <a:rPr lang="en-US" sz="1250" b="1" dirty="0">
                <a:solidFill>
                  <a:srgbClr val="A8D8EA"/>
                </a:solidFill>
              </a:rPr>
              <a:t>4. Vercel Deploy</a:t>
            </a:r>
            <a:endParaRPr lang="en-US" sz="1250" dirty="0"/>
          </a:p>
        </p:txBody>
      </p:sp>
      <p:sp>
        <p:nvSpPr>
          <p:cNvPr id="44" name="Text 38"/>
          <p:cNvSpPr/>
          <p:nvPr/>
        </p:nvSpPr>
        <p:spPr>
          <a:xfrm>
            <a:off x="6263640" y="4379976"/>
            <a:ext cx="2468880" cy="411480"/>
          </a:xfrm>
          <a:prstGeom prst="rect">
            <a:avLst/>
          </a:prstGeom>
          <a:noFill/>
          <a:ln/>
        </p:spPr>
        <p:txBody>
          <a:bodyPr wrap="square" lIns="0" tIns="0" rIns="0" bIns="0" rtlCol="0" anchor="ctr"/>
          <a:lstStyle/>
          <a:p>
            <a:pPr indent="0" marL="0">
              <a:lnSpc>
                <a:spcPct val="125000"/>
              </a:lnSpc>
              <a:buNone/>
            </a:pPr>
            <a:r>
              <a:rPr lang="en-US" sz="1000" dirty="0">
                <a:solidFill>
                  <a:srgbClr val="6E8FAA"/>
                </a:solidFill>
              </a:rPr>
              <a:t>vercel-action → deploy FE lên prod</a:t>
            </a:r>
            <a:endParaRPr lang="en-US" sz="1000" dirty="0"/>
          </a:p>
        </p:txBody>
      </p:sp>
      <p:sp>
        <p:nvSpPr>
          <p:cNvPr id="45" name="Shape 39"/>
          <p:cNvSpPr/>
          <p:nvPr/>
        </p:nvSpPr>
        <p:spPr>
          <a:xfrm>
            <a:off x="320040" y="4709160"/>
            <a:ext cx="8503920" cy="320040"/>
          </a:xfrm>
          <a:prstGeom prst="rect">
            <a:avLst/>
          </a:prstGeom>
          <a:solidFill>
            <a:srgbClr val="00B37D"/>
          </a:solidFill>
          <a:ln w="12700">
            <a:solidFill>
              <a:srgbClr val="00B37D"/>
            </a:solidFill>
            <a:prstDash val="solid"/>
          </a:ln>
        </p:spPr>
      </p:sp>
      <p:pic>
        <p:nvPicPr>
          <p:cNvPr id="46" name="Image 4" descr="preencoded.png">    </p:cNvPr>
          <p:cNvPicPr>
            <a:picLocks noChangeAspect="1"/>
          </p:cNvPicPr>
          <p:nvPr/>
        </p:nvPicPr>
        <p:blipFill>
          <a:blip r:embed="rId5"/>
          <a:stretch>
            <a:fillRect/>
          </a:stretch>
        </p:blipFill>
        <p:spPr>
          <a:xfrm>
            <a:off x="457200" y="4745736"/>
            <a:ext cx="228600" cy="228600"/>
          </a:xfrm>
          <a:prstGeom prst="rect">
            <a:avLst/>
          </a:prstGeom>
        </p:spPr>
      </p:pic>
      <p:sp>
        <p:nvSpPr>
          <p:cNvPr id="47" name="Text 40"/>
          <p:cNvSpPr/>
          <p:nvPr/>
        </p:nvSpPr>
        <p:spPr>
          <a:xfrm>
            <a:off x="777240" y="4745736"/>
            <a:ext cx="7909560" cy="256032"/>
          </a:xfrm>
          <a:prstGeom prst="rect">
            <a:avLst/>
          </a:prstGeom>
          <a:noFill/>
          <a:ln/>
        </p:spPr>
        <p:txBody>
          <a:bodyPr wrap="square" lIns="0" tIns="0" rIns="0" bIns="0" rtlCol="0" anchor="ctr"/>
          <a:lstStyle/>
          <a:p>
            <a:pPr indent="0" marL="0">
              <a:buNone/>
            </a:pPr>
            <a:r>
              <a:rPr lang="en-US" sz="1100" b="1" dirty="0">
                <a:solidFill>
                  <a:srgbClr val="0D1B2A"/>
                </a:solidFill>
              </a:rPr>
              <a:t>Kết quả: push code → tự động test → deploy BE (Render) + FE (Vercel) — không cần thao tác thủ công!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B"/>
        </a:solidFill>
      </p:bgPr>
    </p:bg>
    <p:spTree>
      <p:nvGrpSpPr>
        <p:cNvPr id="1" name=""/>
        <p:cNvGrpSpPr/>
        <p:nvPr/>
      </p:nvGrpSpPr>
      <p:grpSpPr>
        <a:xfrm>
          <a:off x="0" y="0"/>
          <a:ext cx="0" cy="0"/>
          <a:chOff x="0" y="0"/>
          <a:chExt cx="0" cy="0"/>
        </a:xfrm>
      </p:grpSpPr>
      <p:sp>
        <p:nvSpPr>
          <p:cNvPr id="2" name="Shape 0"/>
          <p:cNvSpPr/>
          <p:nvPr/>
        </p:nvSpPr>
        <p:spPr>
          <a:xfrm>
            <a:off x="365760" y="274320"/>
            <a:ext cx="1005840" cy="256032"/>
          </a:xfrm>
          <a:prstGeom prst="rect">
            <a:avLst/>
          </a:prstGeom>
          <a:solidFill>
            <a:srgbClr val="065A82"/>
          </a:solidFill>
          <a:ln w="12700">
            <a:solidFill>
              <a:srgbClr val="065A82"/>
            </a:solidFill>
            <a:prstDash val="solid"/>
          </a:ln>
        </p:spPr>
      </p:sp>
      <p:sp>
        <p:nvSpPr>
          <p:cNvPr id="3" name="Text 1"/>
          <p:cNvSpPr/>
          <p:nvPr/>
        </p:nvSpPr>
        <p:spPr>
          <a:xfrm>
            <a:off x="365760" y="274320"/>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PHẦN 04</a:t>
            </a:r>
            <a:endParaRPr lang="en-US" sz="900" dirty="0"/>
          </a:p>
        </p:txBody>
      </p:sp>
      <p:sp>
        <p:nvSpPr>
          <p:cNvPr id="4" name="Text 2"/>
          <p:cNvSpPr/>
          <p:nvPr/>
        </p:nvSpPr>
        <p:spPr>
          <a:xfrm>
            <a:off x="365760" y="640080"/>
            <a:ext cx="8229600" cy="502920"/>
          </a:xfrm>
          <a:prstGeom prst="rect">
            <a:avLst/>
          </a:prstGeom>
          <a:noFill/>
          <a:ln/>
        </p:spPr>
        <p:txBody>
          <a:bodyPr wrap="square" lIns="0" tIns="0" rIns="0" bIns="0" rtlCol="0" anchor="ctr"/>
          <a:lstStyle/>
          <a:p>
            <a:pPr indent="0" marL="0">
              <a:buNone/>
            </a:pPr>
            <a:r>
              <a:rPr lang="en-US" sz="3000" b="1" dirty="0">
                <a:solidFill>
                  <a:srgbClr val="1A2535"/>
                </a:solidFill>
              </a:rPr>
              <a:t>AI-Enhanced CI/CD</a:t>
            </a:r>
            <a:endParaRPr lang="en-US" sz="3000" dirty="0"/>
          </a:p>
        </p:txBody>
      </p:sp>
      <p:sp>
        <p:nvSpPr>
          <p:cNvPr id="5" name="Shape 3"/>
          <p:cNvSpPr/>
          <p:nvPr/>
        </p:nvSpPr>
        <p:spPr>
          <a:xfrm>
            <a:off x="365760" y="1261872"/>
            <a:ext cx="8412480" cy="548640"/>
          </a:xfrm>
          <a:prstGeom prst="rect">
            <a:avLst/>
          </a:prstGeom>
          <a:solidFill>
            <a:srgbClr val="FFF8E7"/>
          </a:solidFill>
          <a:ln w="12700">
            <a:solidFill>
              <a:srgbClr val="F59E0B"/>
            </a:solidFill>
            <a:prstDash val="solid"/>
          </a:ln>
        </p:spPr>
      </p:sp>
      <p:pic>
        <p:nvPicPr>
          <p:cNvPr id="6" name="Image 0" descr="preencoded.png">    </p:cNvPr>
          <p:cNvPicPr>
            <a:picLocks noChangeAspect="1"/>
          </p:cNvPicPr>
          <p:nvPr/>
        </p:nvPicPr>
        <p:blipFill>
          <a:blip r:embed="rId1"/>
          <a:stretch>
            <a:fillRect/>
          </a:stretch>
        </p:blipFill>
        <p:spPr>
          <a:xfrm>
            <a:off x="502920" y="1353312"/>
            <a:ext cx="320040" cy="320040"/>
          </a:xfrm>
          <a:prstGeom prst="rect">
            <a:avLst/>
          </a:prstGeom>
        </p:spPr>
      </p:pic>
      <p:sp>
        <p:nvSpPr>
          <p:cNvPr id="7" name="Text 4"/>
          <p:cNvSpPr/>
          <p:nvPr/>
        </p:nvSpPr>
        <p:spPr>
          <a:xfrm>
            <a:off x="960120" y="1362456"/>
            <a:ext cx="7589520" cy="384048"/>
          </a:xfrm>
          <a:prstGeom prst="rect">
            <a:avLst/>
          </a:prstGeom>
          <a:noFill/>
          <a:ln/>
        </p:spPr>
        <p:txBody>
          <a:bodyPr wrap="square" lIns="0" tIns="0" rIns="0" bIns="0" rtlCol="0" anchor="ctr"/>
          <a:lstStyle/>
          <a:p>
            <a:pPr indent="0" marL="0">
              <a:buNone/>
            </a:pPr>
            <a:r>
              <a:rPr lang="en-US" sz="1200" b="1" i="1" dirty="0">
                <a:solidFill>
                  <a:srgbClr val="7A5200"/>
                </a:solidFill>
              </a:rPr>
              <a:t>AI giúp bạn setup nhanh hơn &amp; debug dễ hơn — nhưng bạn vẫn cần HIỂU nguyên lý để biết AI đang làm đúng hay sai.</a:t>
            </a:r>
            <a:endParaRPr lang="en-US" sz="1200" dirty="0"/>
          </a:p>
        </p:txBody>
      </p:sp>
      <p:sp>
        <p:nvSpPr>
          <p:cNvPr id="8" name="Shape 5"/>
          <p:cNvSpPr/>
          <p:nvPr/>
        </p:nvSpPr>
        <p:spPr>
          <a:xfrm>
            <a:off x="365760" y="1938528"/>
            <a:ext cx="4206240" cy="1389888"/>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7000"/>
              </a:srgbClr>
            </a:outerShdw>
          </a:effectLst>
        </p:spPr>
      </p:sp>
      <p:sp>
        <p:nvSpPr>
          <p:cNvPr id="9" name="Shape 6"/>
          <p:cNvSpPr/>
          <p:nvPr/>
        </p:nvSpPr>
        <p:spPr>
          <a:xfrm>
            <a:off x="365760" y="1938528"/>
            <a:ext cx="4206240" cy="54864"/>
          </a:xfrm>
          <a:prstGeom prst="rect">
            <a:avLst/>
          </a:prstGeom>
          <a:solidFill>
            <a:srgbClr val="065A82"/>
          </a:solidFill>
          <a:ln w="12700">
            <a:solidFill>
              <a:srgbClr val="065A82"/>
            </a:solidFill>
            <a:prstDash val="solid"/>
          </a:ln>
        </p:spPr>
      </p:sp>
      <p:pic>
        <p:nvPicPr>
          <p:cNvPr id="10" name="Image 1" descr="preencoded.png">    </p:cNvPr>
          <p:cNvPicPr>
            <a:picLocks noChangeAspect="1"/>
          </p:cNvPicPr>
          <p:nvPr/>
        </p:nvPicPr>
        <p:blipFill>
          <a:blip r:embed="rId2"/>
          <a:stretch>
            <a:fillRect/>
          </a:stretch>
        </p:blipFill>
        <p:spPr>
          <a:xfrm>
            <a:off x="530352" y="2075688"/>
            <a:ext cx="347472" cy="347472"/>
          </a:xfrm>
          <a:prstGeom prst="rect">
            <a:avLst/>
          </a:prstGeom>
        </p:spPr>
      </p:pic>
      <p:sp>
        <p:nvSpPr>
          <p:cNvPr id="11" name="Text 7"/>
          <p:cNvSpPr/>
          <p:nvPr/>
        </p:nvSpPr>
        <p:spPr>
          <a:xfrm>
            <a:off x="987552" y="2093976"/>
            <a:ext cx="3429000" cy="292608"/>
          </a:xfrm>
          <a:prstGeom prst="rect">
            <a:avLst/>
          </a:prstGeom>
          <a:noFill/>
          <a:ln/>
        </p:spPr>
        <p:txBody>
          <a:bodyPr wrap="square" lIns="0" tIns="0" rIns="0" bIns="0" rtlCol="0" anchor="ctr"/>
          <a:lstStyle/>
          <a:p>
            <a:pPr indent="0" marL="0">
              <a:buNone/>
            </a:pPr>
            <a:r>
              <a:rPr lang="en-US" sz="1300" b="1" dirty="0">
                <a:solidFill>
                  <a:srgbClr val="065A82"/>
                </a:solidFill>
              </a:rPr>
              <a:t>Sinh YAML tự động</a:t>
            </a:r>
            <a:endParaRPr lang="en-US" sz="1300" dirty="0"/>
          </a:p>
        </p:txBody>
      </p:sp>
      <p:sp>
        <p:nvSpPr>
          <p:cNvPr id="12" name="Text 8"/>
          <p:cNvSpPr/>
          <p:nvPr/>
        </p:nvSpPr>
        <p:spPr>
          <a:xfrm>
            <a:off x="530352" y="2505456"/>
            <a:ext cx="3877056" cy="749808"/>
          </a:xfrm>
          <a:prstGeom prst="rect">
            <a:avLst/>
          </a:prstGeom>
          <a:noFill/>
          <a:ln/>
        </p:spPr>
        <p:txBody>
          <a:bodyPr wrap="square" lIns="0" tIns="0" rIns="0" bIns="0" rtlCol="0" anchor="ctr"/>
          <a:lstStyle/>
          <a:p>
            <a:pPr indent="0" marL="0">
              <a:lnSpc>
                <a:spcPct val="135000"/>
              </a:lnSpc>
              <a:buNone/>
            </a:pPr>
            <a:r>
              <a:rPr lang="en-US" sz="1050" dirty="0">
                <a:solidFill>
                  <a:srgbClr val="1A2535"/>
                </a:solidFill>
              </a:rPr>
              <a:t>Prompt: "Viết GitHub Actions workflow cho Node.js app, chạy test và deploy lên Render"</a:t>
            </a:r>
            <a:endParaRPr lang="en-US" sz="1050" dirty="0"/>
          </a:p>
          <a:p>
            <a:pPr indent="0" marL="0">
              <a:lnSpc>
                <a:spcPct val="135000"/>
              </a:lnSpc>
              <a:buNone/>
            </a:pPr>
            <a:r>
              <a:rPr lang="en-US" sz="1050" dirty="0">
                <a:solidFill>
                  <a:srgbClr val="1A2535"/>
                </a:solidFill>
              </a:rPr>
              <a:t>→ AI sinh file YAML → đọc hiểu từng dòng cùng nhau.</a:t>
            </a:r>
            <a:endParaRPr lang="en-US" sz="1050" dirty="0"/>
          </a:p>
        </p:txBody>
      </p:sp>
      <p:sp>
        <p:nvSpPr>
          <p:cNvPr id="13" name="Shape 9"/>
          <p:cNvSpPr/>
          <p:nvPr/>
        </p:nvSpPr>
        <p:spPr>
          <a:xfrm>
            <a:off x="4800600" y="1938528"/>
            <a:ext cx="4206240" cy="1389888"/>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7000"/>
              </a:srgbClr>
            </a:outerShdw>
          </a:effectLst>
        </p:spPr>
      </p:sp>
      <p:sp>
        <p:nvSpPr>
          <p:cNvPr id="14" name="Shape 10"/>
          <p:cNvSpPr/>
          <p:nvPr/>
        </p:nvSpPr>
        <p:spPr>
          <a:xfrm>
            <a:off x="4800600" y="1938528"/>
            <a:ext cx="4206240" cy="54864"/>
          </a:xfrm>
          <a:prstGeom prst="rect">
            <a:avLst/>
          </a:prstGeom>
          <a:solidFill>
            <a:srgbClr val="0F9BAC"/>
          </a:solidFill>
          <a:ln w="12700">
            <a:solidFill>
              <a:srgbClr val="0F9BAC"/>
            </a:solidFill>
            <a:prstDash val="solid"/>
          </a:ln>
        </p:spPr>
      </p:sp>
      <p:pic>
        <p:nvPicPr>
          <p:cNvPr id="15" name="Image 2" descr="preencoded.png">    </p:cNvPr>
          <p:cNvPicPr>
            <a:picLocks noChangeAspect="1"/>
          </p:cNvPicPr>
          <p:nvPr/>
        </p:nvPicPr>
        <p:blipFill>
          <a:blip r:embed="rId3"/>
          <a:stretch>
            <a:fillRect/>
          </a:stretch>
        </p:blipFill>
        <p:spPr>
          <a:xfrm>
            <a:off x="4965192" y="2075688"/>
            <a:ext cx="347472" cy="347472"/>
          </a:xfrm>
          <a:prstGeom prst="rect">
            <a:avLst/>
          </a:prstGeom>
        </p:spPr>
      </p:pic>
      <p:sp>
        <p:nvSpPr>
          <p:cNvPr id="16" name="Text 11"/>
          <p:cNvSpPr/>
          <p:nvPr/>
        </p:nvSpPr>
        <p:spPr>
          <a:xfrm>
            <a:off x="5422392" y="2093976"/>
            <a:ext cx="3429000" cy="292608"/>
          </a:xfrm>
          <a:prstGeom prst="rect">
            <a:avLst/>
          </a:prstGeom>
          <a:noFill/>
          <a:ln/>
        </p:spPr>
        <p:txBody>
          <a:bodyPr wrap="square" lIns="0" tIns="0" rIns="0" bIns="0" rtlCol="0" anchor="ctr"/>
          <a:lstStyle/>
          <a:p>
            <a:pPr indent="0" marL="0">
              <a:buNone/>
            </a:pPr>
            <a:r>
              <a:rPr lang="en-US" sz="1300" b="1" dirty="0">
                <a:solidFill>
                  <a:srgbClr val="0F9BAC"/>
                </a:solidFill>
              </a:rPr>
              <a:t>Debug CI log bằng AI</a:t>
            </a:r>
            <a:endParaRPr lang="en-US" sz="1300" dirty="0"/>
          </a:p>
        </p:txBody>
      </p:sp>
      <p:sp>
        <p:nvSpPr>
          <p:cNvPr id="17" name="Text 12"/>
          <p:cNvSpPr/>
          <p:nvPr/>
        </p:nvSpPr>
        <p:spPr>
          <a:xfrm>
            <a:off x="4965192" y="2505456"/>
            <a:ext cx="3877056" cy="749808"/>
          </a:xfrm>
          <a:prstGeom prst="rect">
            <a:avLst/>
          </a:prstGeom>
          <a:noFill/>
          <a:ln/>
        </p:spPr>
        <p:txBody>
          <a:bodyPr wrap="square" lIns="0" tIns="0" rIns="0" bIns="0" rtlCol="0" anchor="ctr"/>
          <a:lstStyle/>
          <a:p>
            <a:pPr indent="0" marL="0">
              <a:lnSpc>
                <a:spcPct val="135000"/>
              </a:lnSpc>
              <a:buNone/>
            </a:pPr>
            <a:r>
              <a:rPr lang="en-US" sz="1050" dirty="0">
                <a:solidFill>
                  <a:srgbClr val="1A2535"/>
                </a:solidFill>
              </a:rPr>
              <a:t>Copy error log từ GitHub Actions tab → paste vào ChatGPT → hỏi "lỗi này là gì và fix như thế nào?"</a:t>
            </a:r>
            <a:endParaRPr lang="en-US" sz="1050" dirty="0"/>
          </a:p>
          <a:p>
            <a:pPr indent="0" marL="0">
              <a:lnSpc>
                <a:spcPct val="135000"/>
              </a:lnSpc>
              <a:buNone/>
            </a:pPr>
            <a:r>
              <a:rPr lang="en-US" sz="1050" dirty="0">
                <a:solidFill>
                  <a:srgbClr val="1A2535"/>
                </a:solidFill>
              </a:rPr>
              <a:t>→ Tiết kiệm 30-60 phút debug.</a:t>
            </a:r>
            <a:endParaRPr lang="en-US" sz="1050" dirty="0"/>
          </a:p>
        </p:txBody>
      </p:sp>
      <p:sp>
        <p:nvSpPr>
          <p:cNvPr id="18" name="Shape 13"/>
          <p:cNvSpPr/>
          <p:nvPr/>
        </p:nvSpPr>
        <p:spPr>
          <a:xfrm>
            <a:off x="365760" y="3447288"/>
            <a:ext cx="4206240" cy="1389888"/>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7000"/>
              </a:srgbClr>
            </a:outerShdw>
          </a:effectLst>
        </p:spPr>
      </p:sp>
      <p:sp>
        <p:nvSpPr>
          <p:cNvPr id="19" name="Shape 14"/>
          <p:cNvSpPr/>
          <p:nvPr/>
        </p:nvSpPr>
        <p:spPr>
          <a:xfrm>
            <a:off x="365760" y="3447288"/>
            <a:ext cx="4206240" cy="54864"/>
          </a:xfrm>
          <a:prstGeom prst="rect">
            <a:avLst/>
          </a:prstGeom>
          <a:solidFill>
            <a:srgbClr val="00B37D"/>
          </a:solidFill>
          <a:ln w="12700">
            <a:solidFill>
              <a:srgbClr val="00B37D"/>
            </a:solidFill>
            <a:prstDash val="solid"/>
          </a:ln>
        </p:spPr>
      </p:sp>
      <p:pic>
        <p:nvPicPr>
          <p:cNvPr id="20" name="Image 3" descr="preencoded.png">    </p:cNvPr>
          <p:cNvPicPr>
            <a:picLocks noChangeAspect="1"/>
          </p:cNvPicPr>
          <p:nvPr/>
        </p:nvPicPr>
        <p:blipFill>
          <a:blip r:embed="rId4"/>
          <a:stretch>
            <a:fillRect/>
          </a:stretch>
        </p:blipFill>
        <p:spPr>
          <a:xfrm>
            <a:off x="530352" y="3584448"/>
            <a:ext cx="347472" cy="347472"/>
          </a:xfrm>
          <a:prstGeom prst="rect">
            <a:avLst/>
          </a:prstGeom>
        </p:spPr>
      </p:pic>
      <p:sp>
        <p:nvSpPr>
          <p:cNvPr id="21" name="Text 15"/>
          <p:cNvSpPr/>
          <p:nvPr/>
        </p:nvSpPr>
        <p:spPr>
          <a:xfrm>
            <a:off x="987552" y="3602736"/>
            <a:ext cx="3429000" cy="292608"/>
          </a:xfrm>
          <a:prstGeom prst="rect">
            <a:avLst/>
          </a:prstGeom>
          <a:noFill/>
          <a:ln/>
        </p:spPr>
        <p:txBody>
          <a:bodyPr wrap="square" lIns="0" tIns="0" rIns="0" bIns="0" rtlCol="0" anchor="ctr"/>
          <a:lstStyle/>
          <a:p>
            <a:pPr indent="0" marL="0">
              <a:buNone/>
            </a:pPr>
            <a:r>
              <a:rPr lang="en-US" sz="1300" b="1" dirty="0">
                <a:solidFill>
                  <a:srgbClr val="00B37D"/>
                </a:solidFill>
              </a:rPr>
              <a:t>AI Security Scan</a:t>
            </a:r>
            <a:endParaRPr lang="en-US" sz="1300" dirty="0"/>
          </a:p>
        </p:txBody>
      </p:sp>
      <p:sp>
        <p:nvSpPr>
          <p:cNvPr id="22" name="Text 16"/>
          <p:cNvSpPr/>
          <p:nvPr/>
        </p:nvSpPr>
        <p:spPr>
          <a:xfrm>
            <a:off x="530352" y="4014216"/>
            <a:ext cx="3877056" cy="749808"/>
          </a:xfrm>
          <a:prstGeom prst="rect">
            <a:avLst/>
          </a:prstGeom>
          <a:noFill/>
          <a:ln/>
        </p:spPr>
        <p:txBody>
          <a:bodyPr wrap="square" lIns="0" tIns="0" rIns="0" bIns="0" rtlCol="0" anchor="ctr"/>
          <a:lstStyle/>
          <a:p>
            <a:pPr indent="0" marL="0">
              <a:lnSpc>
                <a:spcPct val="135000"/>
              </a:lnSpc>
              <a:buNone/>
            </a:pPr>
            <a:r>
              <a:rPr lang="en-US" sz="1050" dirty="0">
                <a:solidFill>
                  <a:srgbClr val="1A2535"/>
                </a:solidFill>
              </a:rPr>
              <a:t>CodeQL (tích hợp sẵn GitHub): phát hiện lỗ hổng bảo mật trong code.</a:t>
            </a:r>
            <a:endParaRPr lang="en-US" sz="1050" dirty="0"/>
          </a:p>
          <a:p>
            <a:pPr indent="0" marL="0">
              <a:lnSpc>
                <a:spcPct val="135000"/>
              </a:lnSpc>
              <a:buNone/>
            </a:pPr>
            <a:r>
              <a:rPr lang="en-US" sz="1050" dirty="0">
                <a:solidFill>
                  <a:srgbClr val="1A2535"/>
                </a:solidFill>
              </a:rPr>
              <a:t>Dependabot: cảnh báo khi package có CVE — tự tạo PR fix.</a:t>
            </a:r>
            <a:endParaRPr lang="en-US" sz="1050" dirty="0"/>
          </a:p>
        </p:txBody>
      </p:sp>
      <p:sp>
        <p:nvSpPr>
          <p:cNvPr id="23" name="Shape 17"/>
          <p:cNvSpPr/>
          <p:nvPr/>
        </p:nvSpPr>
        <p:spPr>
          <a:xfrm>
            <a:off x="4800600" y="3447288"/>
            <a:ext cx="4206240" cy="1389888"/>
          </a:xfrm>
          <a:prstGeom prst="rect">
            <a:avLst/>
          </a:prstGeom>
          <a:solidFill>
            <a:srgbClr val="FFFFFF"/>
          </a:solidFill>
          <a:ln w="12700">
            <a:solidFill>
              <a:srgbClr val="D0DDE8"/>
            </a:solidFill>
            <a:prstDash val="solid"/>
          </a:ln>
          <a:effectLst>
            <a:outerShdw sx="100000" sy="100000" kx="0" ky="0" algn="bl" rotWithShape="0" blurRad="63500" dist="25400" dir="8100000">
              <a:srgbClr val="000000">
                <a:alpha val="7000"/>
              </a:srgbClr>
            </a:outerShdw>
          </a:effectLst>
        </p:spPr>
      </p:sp>
      <p:sp>
        <p:nvSpPr>
          <p:cNvPr id="24" name="Shape 18"/>
          <p:cNvSpPr/>
          <p:nvPr/>
        </p:nvSpPr>
        <p:spPr>
          <a:xfrm>
            <a:off x="4800600" y="3447288"/>
            <a:ext cx="4206240" cy="54864"/>
          </a:xfrm>
          <a:prstGeom prst="rect">
            <a:avLst/>
          </a:prstGeom>
          <a:solidFill>
            <a:srgbClr val="F59E0B"/>
          </a:solidFill>
          <a:ln w="12700">
            <a:solidFill>
              <a:srgbClr val="F59E0B"/>
            </a:solidFill>
            <a:prstDash val="solid"/>
          </a:ln>
        </p:spPr>
      </p:sp>
      <p:pic>
        <p:nvPicPr>
          <p:cNvPr id="25" name="Image 4" descr="preencoded.png">    </p:cNvPr>
          <p:cNvPicPr>
            <a:picLocks noChangeAspect="1"/>
          </p:cNvPicPr>
          <p:nvPr/>
        </p:nvPicPr>
        <p:blipFill>
          <a:blip r:embed="rId5"/>
          <a:stretch>
            <a:fillRect/>
          </a:stretch>
        </p:blipFill>
        <p:spPr>
          <a:xfrm>
            <a:off x="4965192" y="3584448"/>
            <a:ext cx="347472" cy="347472"/>
          </a:xfrm>
          <a:prstGeom prst="rect">
            <a:avLst/>
          </a:prstGeom>
        </p:spPr>
      </p:pic>
      <p:sp>
        <p:nvSpPr>
          <p:cNvPr id="26" name="Text 19"/>
          <p:cNvSpPr/>
          <p:nvPr/>
        </p:nvSpPr>
        <p:spPr>
          <a:xfrm>
            <a:off x="5422392" y="3602736"/>
            <a:ext cx="3429000" cy="292608"/>
          </a:xfrm>
          <a:prstGeom prst="rect">
            <a:avLst/>
          </a:prstGeom>
          <a:noFill/>
          <a:ln/>
        </p:spPr>
        <p:txBody>
          <a:bodyPr wrap="square" lIns="0" tIns="0" rIns="0" bIns="0" rtlCol="0" anchor="ctr"/>
          <a:lstStyle/>
          <a:p>
            <a:pPr indent="0" marL="0">
              <a:buNone/>
            </a:pPr>
            <a:r>
              <a:rPr lang="en-US" sz="1300" b="1" dirty="0">
                <a:solidFill>
                  <a:srgbClr val="F59E0B"/>
                </a:solidFill>
              </a:rPr>
              <a:t>AI sinh Test Cases</a:t>
            </a:r>
            <a:endParaRPr lang="en-US" sz="1300" dirty="0"/>
          </a:p>
        </p:txBody>
      </p:sp>
      <p:sp>
        <p:nvSpPr>
          <p:cNvPr id="27" name="Text 20"/>
          <p:cNvSpPr/>
          <p:nvPr/>
        </p:nvSpPr>
        <p:spPr>
          <a:xfrm>
            <a:off x="4965192" y="4014216"/>
            <a:ext cx="3877056" cy="749808"/>
          </a:xfrm>
          <a:prstGeom prst="rect">
            <a:avLst/>
          </a:prstGeom>
          <a:noFill/>
          <a:ln/>
        </p:spPr>
        <p:txBody>
          <a:bodyPr wrap="square" lIns="0" tIns="0" rIns="0" bIns="0" rtlCol="0" anchor="ctr"/>
          <a:lstStyle/>
          <a:p>
            <a:pPr indent="0" marL="0">
              <a:lnSpc>
                <a:spcPct val="135000"/>
              </a:lnSpc>
              <a:buNone/>
            </a:pPr>
            <a:r>
              <a:rPr lang="en-US" sz="1050" dirty="0">
                <a:solidFill>
                  <a:srgbClr val="1A2535"/>
                </a:solidFill>
              </a:rPr>
              <a:t>GitHub Copilot gợi ý unit test từ function của bạn.</a:t>
            </a:r>
            <a:endParaRPr lang="en-US" sz="1050" dirty="0"/>
          </a:p>
          <a:p>
            <a:pPr indent="0" marL="0">
              <a:lnSpc>
                <a:spcPct val="135000"/>
              </a:lnSpc>
              <a:buNone/>
            </a:pPr>
            <a:r>
              <a:rPr lang="en-US" sz="1050" dirty="0">
                <a:solidFill>
                  <a:srgbClr val="1A2535"/>
                </a:solidFill>
              </a:rPr>
              <a:t>→ Tăng test coverage mà không cần viết thủ công từ đầu.</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6FB"/>
        </a:solidFill>
      </p:bgPr>
    </p:bg>
    <p:spTree>
      <p:nvGrpSpPr>
        <p:cNvPr id="1" name=""/>
        <p:cNvGrpSpPr/>
        <p:nvPr/>
      </p:nvGrpSpPr>
      <p:grpSpPr>
        <a:xfrm>
          <a:off x="0" y="0"/>
          <a:ext cx="0" cy="0"/>
          <a:chOff x="0" y="0"/>
          <a:chExt cx="0" cy="0"/>
        </a:xfrm>
      </p:grpSpPr>
      <p:sp>
        <p:nvSpPr>
          <p:cNvPr id="2" name="Shape 0"/>
          <p:cNvSpPr/>
          <p:nvPr/>
        </p:nvSpPr>
        <p:spPr>
          <a:xfrm>
            <a:off x="365760" y="274320"/>
            <a:ext cx="1005840" cy="256032"/>
          </a:xfrm>
          <a:prstGeom prst="rect">
            <a:avLst/>
          </a:prstGeom>
          <a:solidFill>
            <a:srgbClr val="00B37D"/>
          </a:solidFill>
          <a:ln w="12700">
            <a:solidFill>
              <a:srgbClr val="00B37D"/>
            </a:solidFill>
            <a:prstDash val="solid"/>
          </a:ln>
        </p:spPr>
      </p:sp>
      <p:sp>
        <p:nvSpPr>
          <p:cNvPr id="3" name="Text 1"/>
          <p:cNvSpPr/>
          <p:nvPr/>
        </p:nvSpPr>
        <p:spPr>
          <a:xfrm>
            <a:off x="365760" y="274320"/>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PHẦN 05</a:t>
            </a:r>
            <a:endParaRPr lang="en-US" sz="900" dirty="0"/>
          </a:p>
        </p:txBody>
      </p:sp>
      <p:sp>
        <p:nvSpPr>
          <p:cNvPr id="4" name="Text 2"/>
          <p:cNvSpPr/>
          <p:nvPr/>
        </p:nvSpPr>
        <p:spPr>
          <a:xfrm>
            <a:off x="365760" y="640080"/>
            <a:ext cx="8229600" cy="502920"/>
          </a:xfrm>
          <a:prstGeom prst="rect">
            <a:avLst/>
          </a:prstGeom>
          <a:noFill/>
          <a:ln/>
        </p:spPr>
        <p:txBody>
          <a:bodyPr wrap="square" lIns="0" tIns="0" rIns="0" bIns="0" rtlCol="0" anchor="ctr"/>
          <a:lstStyle/>
          <a:p>
            <a:pPr indent="0" marL="0">
              <a:buNone/>
            </a:pPr>
            <a:r>
              <a:rPr lang="en-US" sz="2800" b="1" dirty="0">
                <a:solidFill>
                  <a:srgbClr val="1A2535"/>
                </a:solidFill>
              </a:rPr>
              <a:t>Best Practices &amp; Example Repos</a:t>
            </a:r>
            <a:endParaRPr lang="en-US" sz="2800" dirty="0"/>
          </a:p>
        </p:txBody>
      </p:sp>
      <p:sp>
        <p:nvSpPr>
          <p:cNvPr id="5" name="Shape 3"/>
          <p:cNvSpPr/>
          <p:nvPr/>
        </p:nvSpPr>
        <p:spPr>
          <a:xfrm>
            <a:off x="365760" y="1298448"/>
            <a:ext cx="4572000" cy="713232"/>
          </a:xfrm>
          <a:prstGeom prst="rect">
            <a:avLst/>
          </a:prstGeom>
          <a:solidFill>
            <a:srgbClr val="FFFFFF"/>
          </a:solidFill>
          <a:ln w="12700">
            <a:solidFill>
              <a:srgbClr val="D0DDE8"/>
            </a:solidFill>
            <a:prstDash val="solid"/>
          </a:ln>
        </p:spPr>
      </p:sp>
      <p:sp>
        <p:nvSpPr>
          <p:cNvPr id="6" name="Shape 4"/>
          <p:cNvSpPr/>
          <p:nvPr/>
        </p:nvSpPr>
        <p:spPr>
          <a:xfrm>
            <a:off x="365760" y="1298448"/>
            <a:ext cx="54864" cy="713232"/>
          </a:xfrm>
          <a:prstGeom prst="rect">
            <a:avLst/>
          </a:prstGeom>
          <a:solidFill>
            <a:srgbClr val="065A82"/>
          </a:solidFill>
          <a:ln w="12700">
            <a:solidFill>
              <a:srgbClr val="065A82"/>
            </a:solidFill>
            <a:prstDash val="solid"/>
          </a:ln>
        </p:spPr>
      </p:sp>
      <p:pic>
        <p:nvPicPr>
          <p:cNvPr id="7" name="Image 0" descr="preencoded.png">    </p:cNvPr>
          <p:cNvPicPr>
            <a:picLocks noChangeAspect="1"/>
          </p:cNvPicPr>
          <p:nvPr/>
        </p:nvPicPr>
        <p:blipFill>
          <a:blip r:embed="rId1"/>
          <a:stretch>
            <a:fillRect/>
          </a:stretch>
        </p:blipFill>
        <p:spPr>
          <a:xfrm>
            <a:off x="548640" y="1472184"/>
            <a:ext cx="320040" cy="320040"/>
          </a:xfrm>
          <a:prstGeom prst="rect">
            <a:avLst/>
          </a:prstGeom>
        </p:spPr>
      </p:pic>
      <p:sp>
        <p:nvSpPr>
          <p:cNvPr id="8" name="Text 5"/>
          <p:cNvSpPr/>
          <p:nvPr/>
        </p:nvSpPr>
        <p:spPr>
          <a:xfrm>
            <a:off x="1005840" y="1380744"/>
            <a:ext cx="3749040" cy="256032"/>
          </a:xfrm>
          <a:prstGeom prst="rect">
            <a:avLst/>
          </a:prstGeom>
          <a:noFill/>
          <a:ln/>
        </p:spPr>
        <p:txBody>
          <a:bodyPr wrap="square" lIns="0" tIns="0" rIns="0" bIns="0" rtlCol="0" anchor="ctr"/>
          <a:lstStyle/>
          <a:p>
            <a:pPr indent="0" marL="0">
              <a:buNone/>
            </a:pPr>
            <a:r>
              <a:rPr lang="en-US" sz="1300" b="1" dirty="0">
                <a:solidFill>
                  <a:srgbClr val="065A82"/>
                </a:solidFill>
              </a:rPr>
              <a:t>Secrets hygiene</a:t>
            </a:r>
            <a:endParaRPr lang="en-US" sz="1300" dirty="0"/>
          </a:p>
        </p:txBody>
      </p:sp>
      <p:sp>
        <p:nvSpPr>
          <p:cNvPr id="9" name="Text 6"/>
          <p:cNvSpPr/>
          <p:nvPr/>
        </p:nvSpPr>
        <p:spPr>
          <a:xfrm>
            <a:off x="1005840" y="1664208"/>
            <a:ext cx="3749040" cy="292608"/>
          </a:xfrm>
          <a:prstGeom prst="rect">
            <a:avLst/>
          </a:prstGeom>
          <a:noFill/>
          <a:ln/>
        </p:spPr>
        <p:txBody>
          <a:bodyPr wrap="square" lIns="0" tIns="0" rIns="0" bIns="0" rtlCol="0" anchor="ctr"/>
          <a:lstStyle/>
          <a:p>
            <a:pPr indent="0" marL="0">
              <a:lnSpc>
                <a:spcPct val="120000"/>
              </a:lnSpc>
              <a:buNone/>
            </a:pPr>
            <a:r>
              <a:rPr lang="en-US" sz="1050" dirty="0">
                <a:solidFill>
                  <a:srgbClr val="1A2535"/>
                </a:solidFill>
              </a:rPr>
              <a:t>KHÔNG bao giờ hardcode API key trong code. Dùng GitHub Secrets + env vars.</a:t>
            </a:r>
            <a:endParaRPr lang="en-US" sz="1050" dirty="0"/>
          </a:p>
        </p:txBody>
      </p:sp>
      <p:sp>
        <p:nvSpPr>
          <p:cNvPr id="10" name="Shape 7"/>
          <p:cNvSpPr/>
          <p:nvPr/>
        </p:nvSpPr>
        <p:spPr>
          <a:xfrm>
            <a:off x="365760" y="2103120"/>
            <a:ext cx="4572000" cy="713232"/>
          </a:xfrm>
          <a:prstGeom prst="rect">
            <a:avLst/>
          </a:prstGeom>
          <a:solidFill>
            <a:srgbClr val="FFFFFF"/>
          </a:solidFill>
          <a:ln w="12700">
            <a:solidFill>
              <a:srgbClr val="D0DDE8"/>
            </a:solidFill>
            <a:prstDash val="solid"/>
          </a:ln>
        </p:spPr>
      </p:sp>
      <p:sp>
        <p:nvSpPr>
          <p:cNvPr id="11" name="Shape 8"/>
          <p:cNvSpPr/>
          <p:nvPr/>
        </p:nvSpPr>
        <p:spPr>
          <a:xfrm>
            <a:off x="365760" y="2103120"/>
            <a:ext cx="54864" cy="713232"/>
          </a:xfrm>
          <a:prstGeom prst="rect">
            <a:avLst/>
          </a:prstGeom>
          <a:solidFill>
            <a:srgbClr val="00B37D"/>
          </a:solidFill>
          <a:ln w="12700">
            <a:solidFill>
              <a:srgbClr val="00B37D"/>
            </a:solidFill>
            <a:prstDash val="solid"/>
          </a:ln>
        </p:spPr>
      </p:sp>
      <p:pic>
        <p:nvPicPr>
          <p:cNvPr id="12" name="Image 1" descr="preencoded.png">    </p:cNvPr>
          <p:cNvPicPr>
            <a:picLocks noChangeAspect="1"/>
          </p:cNvPicPr>
          <p:nvPr/>
        </p:nvPicPr>
        <p:blipFill>
          <a:blip r:embed="rId2"/>
          <a:stretch>
            <a:fillRect/>
          </a:stretch>
        </p:blipFill>
        <p:spPr>
          <a:xfrm>
            <a:off x="548640" y="2276856"/>
            <a:ext cx="320040" cy="320040"/>
          </a:xfrm>
          <a:prstGeom prst="rect">
            <a:avLst/>
          </a:prstGeom>
        </p:spPr>
      </p:pic>
      <p:sp>
        <p:nvSpPr>
          <p:cNvPr id="13" name="Text 9"/>
          <p:cNvSpPr/>
          <p:nvPr/>
        </p:nvSpPr>
        <p:spPr>
          <a:xfrm>
            <a:off x="1005840" y="2185416"/>
            <a:ext cx="3749040" cy="256032"/>
          </a:xfrm>
          <a:prstGeom prst="rect">
            <a:avLst/>
          </a:prstGeom>
          <a:noFill/>
          <a:ln/>
        </p:spPr>
        <p:txBody>
          <a:bodyPr wrap="square" lIns="0" tIns="0" rIns="0" bIns="0" rtlCol="0" anchor="ctr"/>
          <a:lstStyle/>
          <a:p>
            <a:pPr indent="0" marL="0">
              <a:buNone/>
            </a:pPr>
            <a:r>
              <a:rPr lang="en-US" sz="1300" b="1" dirty="0">
                <a:solidFill>
                  <a:srgbClr val="00B37D"/>
                </a:solidFill>
              </a:rPr>
              <a:t>Test trước, deploy sau</a:t>
            </a:r>
            <a:endParaRPr lang="en-US" sz="1300" dirty="0"/>
          </a:p>
        </p:txBody>
      </p:sp>
      <p:sp>
        <p:nvSpPr>
          <p:cNvPr id="14" name="Text 10"/>
          <p:cNvSpPr/>
          <p:nvPr/>
        </p:nvSpPr>
        <p:spPr>
          <a:xfrm>
            <a:off x="1005840" y="2468880"/>
            <a:ext cx="3749040" cy="292608"/>
          </a:xfrm>
          <a:prstGeom prst="rect">
            <a:avLst/>
          </a:prstGeom>
          <a:noFill/>
          <a:ln/>
        </p:spPr>
        <p:txBody>
          <a:bodyPr wrap="square" lIns="0" tIns="0" rIns="0" bIns="0" rtlCol="0" anchor="ctr"/>
          <a:lstStyle/>
          <a:p>
            <a:pPr indent="0" marL="0">
              <a:lnSpc>
                <a:spcPct val="120000"/>
              </a:lnSpc>
              <a:buNone/>
            </a:pPr>
            <a:r>
              <a:rPr lang="en-US" sz="1050" dirty="0">
                <a:solidFill>
                  <a:srgbClr val="1A2535"/>
                </a:solidFill>
              </a:rPr>
              <a:t>Không có tests = không nên có CD tự động. CI phải pass 100% trước khi deploy.</a:t>
            </a:r>
            <a:endParaRPr lang="en-US" sz="1050" dirty="0"/>
          </a:p>
        </p:txBody>
      </p:sp>
      <p:sp>
        <p:nvSpPr>
          <p:cNvPr id="15" name="Shape 11"/>
          <p:cNvSpPr/>
          <p:nvPr/>
        </p:nvSpPr>
        <p:spPr>
          <a:xfrm>
            <a:off x="365760" y="2907792"/>
            <a:ext cx="4572000" cy="713232"/>
          </a:xfrm>
          <a:prstGeom prst="rect">
            <a:avLst/>
          </a:prstGeom>
          <a:solidFill>
            <a:srgbClr val="FFFFFF"/>
          </a:solidFill>
          <a:ln w="12700">
            <a:solidFill>
              <a:srgbClr val="D0DDE8"/>
            </a:solidFill>
            <a:prstDash val="solid"/>
          </a:ln>
        </p:spPr>
      </p:sp>
      <p:sp>
        <p:nvSpPr>
          <p:cNvPr id="16" name="Shape 12"/>
          <p:cNvSpPr/>
          <p:nvPr/>
        </p:nvSpPr>
        <p:spPr>
          <a:xfrm>
            <a:off x="365760" y="2907792"/>
            <a:ext cx="54864" cy="713232"/>
          </a:xfrm>
          <a:prstGeom prst="rect">
            <a:avLst/>
          </a:prstGeom>
          <a:solidFill>
            <a:srgbClr val="0F9BAC"/>
          </a:solidFill>
          <a:ln w="12700">
            <a:solidFill>
              <a:srgbClr val="0F9BAC"/>
            </a:solidFill>
            <a:prstDash val="solid"/>
          </a:ln>
        </p:spPr>
      </p:sp>
      <p:pic>
        <p:nvPicPr>
          <p:cNvPr id="17" name="Image 2" descr="preencoded.png">    </p:cNvPr>
          <p:cNvPicPr>
            <a:picLocks noChangeAspect="1"/>
          </p:cNvPicPr>
          <p:nvPr/>
        </p:nvPicPr>
        <p:blipFill>
          <a:blip r:embed="rId3"/>
          <a:stretch>
            <a:fillRect/>
          </a:stretch>
        </p:blipFill>
        <p:spPr>
          <a:xfrm>
            <a:off x="548640" y="3081528"/>
            <a:ext cx="320040" cy="320040"/>
          </a:xfrm>
          <a:prstGeom prst="rect">
            <a:avLst/>
          </a:prstGeom>
        </p:spPr>
      </p:pic>
      <p:sp>
        <p:nvSpPr>
          <p:cNvPr id="18" name="Text 13"/>
          <p:cNvSpPr/>
          <p:nvPr/>
        </p:nvSpPr>
        <p:spPr>
          <a:xfrm>
            <a:off x="1005840" y="2990088"/>
            <a:ext cx="3749040" cy="256032"/>
          </a:xfrm>
          <a:prstGeom prst="rect">
            <a:avLst/>
          </a:prstGeom>
          <a:noFill/>
          <a:ln/>
        </p:spPr>
        <p:txBody>
          <a:bodyPr wrap="square" lIns="0" tIns="0" rIns="0" bIns="0" rtlCol="0" anchor="ctr"/>
          <a:lstStyle/>
          <a:p>
            <a:pPr indent="0" marL="0">
              <a:buNone/>
            </a:pPr>
            <a:r>
              <a:rPr lang="en-US" sz="1300" b="1" dirty="0">
                <a:solidFill>
                  <a:srgbClr val="0F9BAC"/>
                </a:solidFill>
              </a:rPr>
              <a:t>Cache dependencies</a:t>
            </a:r>
            <a:endParaRPr lang="en-US" sz="1300" dirty="0"/>
          </a:p>
        </p:txBody>
      </p:sp>
      <p:sp>
        <p:nvSpPr>
          <p:cNvPr id="19" name="Text 14"/>
          <p:cNvSpPr/>
          <p:nvPr/>
        </p:nvSpPr>
        <p:spPr>
          <a:xfrm>
            <a:off x="1005840" y="3273552"/>
            <a:ext cx="3749040" cy="292608"/>
          </a:xfrm>
          <a:prstGeom prst="rect">
            <a:avLst/>
          </a:prstGeom>
          <a:noFill/>
          <a:ln/>
        </p:spPr>
        <p:txBody>
          <a:bodyPr wrap="square" lIns="0" tIns="0" rIns="0" bIns="0" rtlCol="0" anchor="ctr"/>
          <a:lstStyle/>
          <a:p>
            <a:pPr indent="0" marL="0">
              <a:lnSpc>
                <a:spcPct val="120000"/>
              </a:lnSpc>
              <a:buNone/>
            </a:pPr>
            <a:r>
              <a:rPr lang="en-US" sz="1050" dirty="0">
                <a:solidFill>
                  <a:srgbClr val="1A2535"/>
                </a:solidFill>
              </a:rPr>
              <a:t>Cache node_modules giúp pipeline nhanh hơn 60%. Dùng actions/cache.</a:t>
            </a:r>
            <a:endParaRPr lang="en-US" sz="1050" dirty="0"/>
          </a:p>
        </p:txBody>
      </p:sp>
      <p:sp>
        <p:nvSpPr>
          <p:cNvPr id="20" name="Shape 15"/>
          <p:cNvSpPr/>
          <p:nvPr/>
        </p:nvSpPr>
        <p:spPr>
          <a:xfrm>
            <a:off x="365760" y="3712464"/>
            <a:ext cx="4572000" cy="713232"/>
          </a:xfrm>
          <a:prstGeom prst="rect">
            <a:avLst/>
          </a:prstGeom>
          <a:solidFill>
            <a:srgbClr val="FFFFFF"/>
          </a:solidFill>
          <a:ln w="12700">
            <a:solidFill>
              <a:srgbClr val="D0DDE8"/>
            </a:solidFill>
            <a:prstDash val="solid"/>
          </a:ln>
        </p:spPr>
      </p:sp>
      <p:sp>
        <p:nvSpPr>
          <p:cNvPr id="21" name="Shape 16"/>
          <p:cNvSpPr/>
          <p:nvPr/>
        </p:nvSpPr>
        <p:spPr>
          <a:xfrm>
            <a:off x="365760" y="3712464"/>
            <a:ext cx="54864" cy="713232"/>
          </a:xfrm>
          <a:prstGeom prst="rect">
            <a:avLst/>
          </a:prstGeom>
          <a:solidFill>
            <a:srgbClr val="F59E0B"/>
          </a:solidFill>
          <a:ln w="12700">
            <a:solidFill>
              <a:srgbClr val="F59E0B"/>
            </a:solidFill>
            <a:prstDash val="solid"/>
          </a:ln>
        </p:spPr>
      </p:sp>
      <p:pic>
        <p:nvPicPr>
          <p:cNvPr id="22" name="Image 3" descr="preencoded.png">    </p:cNvPr>
          <p:cNvPicPr>
            <a:picLocks noChangeAspect="1"/>
          </p:cNvPicPr>
          <p:nvPr/>
        </p:nvPicPr>
        <p:blipFill>
          <a:blip r:embed="rId4"/>
          <a:stretch>
            <a:fillRect/>
          </a:stretch>
        </p:blipFill>
        <p:spPr>
          <a:xfrm>
            <a:off x="548640" y="3886200"/>
            <a:ext cx="320040" cy="320040"/>
          </a:xfrm>
          <a:prstGeom prst="rect">
            <a:avLst/>
          </a:prstGeom>
        </p:spPr>
      </p:pic>
      <p:sp>
        <p:nvSpPr>
          <p:cNvPr id="23" name="Text 17"/>
          <p:cNvSpPr/>
          <p:nvPr/>
        </p:nvSpPr>
        <p:spPr>
          <a:xfrm>
            <a:off x="1005840" y="3794760"/>
            <a:ext cx="3749040" cy="256032"/>
          </a:xfrm>
          <a:prstGeom prst="rect">
            <a:avLst/>
          </a:prstGeom>
          <a:noFill/>
          <a:ln/>
        </p:spPr>
        <p:txBody>
          <a:bodyPr wrap="square" lIns="0" tIns="0" rIns="0" bIns="0" rtlCol="0" anchor="ctr"/>
          <a:lstStyle/>
          <a:p>
            <a:pPr indent="0" marL="0">
              <a:buNone/>
            </a:pPr>
            <a:r>
              <a:rPr lang="en-US" sz="1300" b="1" dirty="0">
                <a:solidFill>
                  <a:srgbClr val="F59E0B"/>
                </a:solidFill>
              </a:rPr>
              <a:t>Branch strategy</a:t>
            </a:r>
            <a:endParaRPr lang="en-US" sz="1300" dirty="0"/>
          </a:p>
        </p:txBody>
      </p:sp>
      <p:sp>
        <p:nvSpPr>
          <p:cNvPr id="24" name="Text 18"/>
          <p:cNvSpPr/>
          <p:nvPr/>
        </p:nvSpPr>
        <p:spPr>
          <a:xfrm>
            <a:off x="1005840" y="4078224"/>
            <a:ext cx="3749040" cy="292608"/>
          </a:xfrm>
          <a:prstGeom prst="rect">
            <a:avLst/>
          </a:prstGeom>
          <a:noFill/>
          <a:ln/>
        </p:spPr>
        <p:txBody>
          <a:bodyPr wrap="square" lIns="0" tIns="0" rIns="0" bIns="0" rtlCol="0" anchor="ctr"/>
          <a:lstStyle/>
          <a:p>
            <a:pPr indent="0" marL="0">
              <a:lnSpc>
                <a:spcPct val="120000"/>
              </a:lnSpc>
              <a:buNone/>
            </a:pPr>
            <a:r>
              <a:rPr lang="en-US" sz="1050" dirty="0">
                <a:solidFill>
                  <a:srgbClr val="1A2535"/>
                </a:solidFill>
              </a:rPr>
              <a:t>main = production. Feature branch để dev. PR → review → merge → auto deploy.</a:t>
            </a:r>
            <a:endParaRPr lang="en-US" sz="1050" dirty="0"/>
          </a:p>
        </p:txBody>
      </p:sp>
      <p:sp>
        <p:nvSpPr>
          <p:cNvPr id="25" name="Text 19"/>
          <p:cNvSpPr/>
          <p:nvPr/>
        </p:nvSpPr>
        <p:spPr>
          <a:xfrm>
            <a:off x="5212080" y="1261872"/>
            <a:ext cx="3611880" cy="347472"/>
          </a:xfrm>
          <a:prstGeom prst="rect">
            <a:avLst/>
          </a:prstGeom>
          <a:noFill/>
          <a:ln/>
        </p:spPr>
        <p:txBody>
          <a:bodyPr wrap="square" lIns="0" tIns="0" rIns="0" bIns="0" rtlCol="0" anchor="ctr"/>
          <a:lstStyle/>
          <a:p>
            <a:pPr indent="0" marL="0">
              <a:buNone/>
            </a:pPr>
            <a:r>
              <a:rPr lang="en-US" sz="1300" b="1" dirty="0">
                <a:solidFill>
                  <a:srgbClr val="1A2535"/>
                </a:solidFill>
              </a:rPr>
              <a:t>📦  Example Repos để tham khảo</a:t>
            </a:r>
            <a:endParaRPr lang="en-US" sz="1300" dirty="0"/>
          </a:p>
        </p:txBody>
      </p:sp>
      <p:sp>
        <p:nvSpPr>
          <p:cNvPr id="26" name="Shape 20"/>
          <p:cNvSpPr/>
          <p:nvPr/>
        </p:nvSpPr>
        <p:spPr>
          <a:xfrm>
            <a:off x="5212080" y="1737360"/>
            <a:ext cx="3611880" cy="914400"/>
          </a:xfrm>
          <a:prstGeom prst="rect">
            <a:avLst/>
          </a:prstGeom>
          <a:solidFill>
            <a:srgbClr val="FFFFFF"/>
          </a:solidFill>
          <a:ln w="12700">
            <a:solidFill>
              <a:srgbClr val="D0DDE8"/>
            </a:solidFill>
            <a:prstDash val="solid"/>
          </a:ln>
          <a:effectLst>
            <a:outerShdw sx="100000" sy="100000" kx="0" ky="0" algn="bl" rotWithShape="0" blurRad="50800" dist="12700" dir="8100000">
              <a:srgbClr val="000000">
                <a:alpha val="7000"/>
              </a:srgbClr>
            </a:outerShdw>
          </a:effectLst>
        </p:spPr>
      </p:sp>
      <p:pic>
        <p:nvPicPr>
          <p:cNvPr id="27" name="Image 4" descr="preencoded.png">    </p:cNvPr>
          <p:cNvPicPr>
            <a:picLocks noChangeAspect="1"/>
          </p:cNvPicPr>
          <p:nvPr/>
        </p:nvPicPr>
        <p:blipFill>
          <a:blip r:embed="rId5"/>
          <a:stretch>
            <a:fillRect/>
          </a:stretch>
        </p:blipFill>
        <p:spPr>
          <a:xfrm>
            <a:off x="5349240" y="1847088"/>
            <a:ext cx="320040" cy="320040"/>
          </a:xfrm>
          <a:prstGeom prst="rect">
            <a:avLst/>
          </a:prstGeom>
        </p:spPr>
      </p:pic>
      <p:sp>
        <p:nvSpPr>
          <p:cNvPr id="28" name="Shape 21"/>
          <p:cNvSpPr/>
          <p:nvPr/>
        </p:nvSpPr>
        <p:spPr>
          <a:xfrm>
            <a:off x="8229600" y="1828800"/>
            <a:ext cx="548640" cy="219456"/>
          </a:xfrm>
          <a:prstGeom prst="rect">
            <a:avLst/>
          </a:prstGeom>
          <a:solidFill>
            <a:srgbClr val="065A82"/>
          </a:solidFill>
          <a:ln w="12700">
            <a:solidFill>
              <a:srgbClr val="065A82"/>
            </a:solidFill>
            <a:prstDash val="solid"/>
          </a:ln>
        </p:spPr>
      </p:sp>
      <p:sp>
        <p:nvSpPr>
          <p:cNvPr id="29" name="Text 22"/>
          <p:cNvSpPr/>
          <p:nvPr/>
        </p:nvSpPr>
        <p:spPr>
          <a:xfrm>
            <a:off x="8229600" y="1828800"/>
            <a:ext cx="548640" cy="219456"/>
          </a:xfrm>
          <a:prstGeom prst="rect">
            <a:avLst/>
          </a:prstGeom>
          <a:noFill/>
          <a:ln/>
        </p:spPr>
        <p:txBody>
          <a:bodyPr wrap="square" lIns="0" tIns="0" rIns="0" bIns="0" rtlCol="0" anchor="ctr"/>
          <a:lstStyle/>
          <a:p>
            <a:pPr algn="ctr" indent="0" marL="0">
              <a:buNone/>
            </a:pPr>
            <a:r>
              <a:rPr lang="en-US" sz="800" b="1" dirty="0">
                <a:solidFill>
                  <a:srgbClr val="FFFFFF"/>
                </a:solidFill>
              </a:rPr>
              <a:t>FE + CI/CD</a:t>
            </a:r>
            <a:endParaRPr lang="en-US" sz="800" dirty="0"/>
          </a:p>
        </p:txBody>
      </p:sp>
      <p:sp>
        <p:nvSpPr>
          <p:cNvPr id="30" name="Text 23"/>
          <p:cNvSpPr/>
          <p:nvPr/>
        </p:nvSpPr>
        <p:spPr>
          <a:xfrm>
            <a:off x="5760720" y="1828800"/>
            <a:ext cx="2377440" cy="256032"/>
          </a:xfrm>
          <a:prstGeom prst="rect">
            <a:avLst/>
          </a:prstGeom>
          <a:noFill/>
          <a:ln/>
        </p:spPr>
        <p:txBody>
          <a:bodyPr wrap="square" lIns="0" tIns="0" rIns="0" bIns="0" rtlCol="0" anchor="ctr"/>
          <a:lstStyle/>
          <a:p>
            <a:pPr indent="0" marL="0">
              <a:buNone/>
            </a:pPr>
            <a:r>
              <a:rPr lang="en-US" sz="1000" b="1" dirty="0">
                <a:solidFill>
                  <a:srgbClr val="065A82"/>
                </a:solidFill>
              </a:rPr>
              <a:t>prashant1879/ci-cd-nodejs-pipeline-github-with-vercel</a:t>
            </a:r>
            <a:endParaRPr lang="en-US" sz="1000" dirty="0"/>
          </a:p>
        </p:txBody>
      </p:sp>
      <p:sp>
        <p:nvSpPr>
          <p:cNvPr id="31" name="Text 24"/>
          <p:cNvSpPr/>
          <p:nvPr/>
        </p:nvSpPr>
        <p:spPr>
          <a:xfrm>
            <a:off x="5349240" y="2176272"/>
            <a:ext cx="3383280" cy="420624"/>
          </a:xfrm>
          <a:prstGeom prst="rect">
            <a:avLst/>
          </a:prstGeom>
          <a:noFill/>
          <a:ln/>
        </p:spPr>
        <p:txBody>
          <a:bodyPr wrap="square" lIns="0" tIns="0" rIns="0" bIns="0" rtlCol="0" anchor="ctr"/>
          <a:lstStyle/>
          <a:p>
            <a:pPr indent="0" marL="0">
              <a:lnSpc>
                <a:spcPct val="125000"/>
              </a:lnSpc>
              <a:buNone/>
            </a:pPr>
            <a:r>
              <a:rPr lang="en-US" sz="1000" dirty="0">
                <a:solidFill>
                  <a:srgbClr val="1A2535"/>
                </a:solidFill>
              </a:rPr>
              <a:t>Node.js + CI/CD + Vercel deploy qua GitHub Actions. Đủ workflow YAML mẫu.</a:t>
            </a:r>
            <a:endParaRPr lang="en-US" sz="1000" dirty="0"/>
          </a:p>
        </p:txBody>
      </p:sp>
      <p:sp>
        <p:nvSpPr>
          <p:cNvPr id="32" name="Shape 25"/>
          <p:cNvSpPr/>
          <p:nvPr/>
        </p:nvSpPr>
        <p:spPr>
          <a:xfrm>
            <a:off x="5212080" y="2788920"/>
            <a:ext cx="3611880" cy="914400"/>
          </a:xfrm>
          <a:prstGeom prst="rect">
            <a:avLst/>
          </a:prstGeom>
          <a:solidFill>
            <a:srgbClr val="FFFFFF"/>
          </a:solidFill>
          <a:ln w="12700">
            <a:solidFill>
              <a:srgbClr val="D0DDE8"/>
            </a:solidFill>
            <a:prstDash val="solid"/>
          </a:ln>
          <a:effectLst>
            <a:outerShdw sx="100000" sy="100000" kx="0" ky="0" algn="bl" rotWithShape="0" blurRad="50800" dist="12700" dir="8100000">
              <a:srgbClr val="000000">
                <a:alpha val="7000"/>
              </a:srgbClr>
            </a:outerShdw>
          </a:effectLst>
        </p:spPr>
      </p:sp>
      <p:pic>
        <p:nvPicPr>
          <p:cNvPr id="33" name="Image 5" descr="preencoded.png">    </p:cNvPr>
          <p:cNvPicPr>
            <a:picLocks noChangeAspect="1"/>
          </p:cNvPicPr>
          <p:nvPr/>
        </p:nvPicPr>
        <p:blipFill>
          <a:blip r:embed="rId6"/>
          <a:stretch>
            <a:fillRect/>
          </a:stretch>
        </p:blipFill>
        <p:spPr>
          <a:xfrm>
            <a:off x="5349240" y="2898648"/>
            <a:ext cx="320040" cy="320040"/>
          </a:xfrm>
          <a:prstGeom prst="rect">
            <a:avLst/>
          </a:prstGeom>
        </p:spPr>
      </p:pic>
      <p:sp>
        <p:nvSpPr>
          <p:cNvPr id="34" name="Shape 26"/>
          <p:cNvSpPr/>
          <p:nvPr/>
        </p:nvSpPr>
        <p:spPr>
          <a:xfrm>
            <a:off x="8229600" y="2880360"/>
            <a:ext cx="548640" cy="219456"/>
          </a:xfrm>
          <a:prstGeom prst="rect">
            <a:avLst/>
          </a:prstGeom>
          <a:solidFill>
            <a:srgbClr val="065A82"/>
          </a:solidFill>
          <a:ln w="12700">
            <a:solidFill>
              <a:srgbClr val="065A82"/>
            </a:solidFill>
            <a:prstDash val="solid"/>
          </a:ln>
        </p:spPr>
      </p:sp>
      <p:sp>
        <p:nvSpPr>
          <p:cNvPr id="35" name="Text 27"/>
          <p:cNvSpPr/>
          <p:nvPr/>
        </p:nvSpPr>
        <p:spPr>
          <a:xfrm>
            <a:off x="8229600" y="2880360"/>
            <a:ext cx="548640" cy="219456"/>
          </a:xfrm>
          <a:prstGeom prst="rect">
            <a:avLst/>
          </a:prstGeom>
          <a:noFill/>
          <a:ln/>
        </p:spPr>
        <p:txBody>
          <a:bodyPr wrap="square" lIns="0" tIns="0" rIns="0" bIns="0" rtlCol="0" anchor="ctr"/>
          <a:lstStyle/>
          <a:p>
            <a:pPr algn="ctr" indent="0" marL="0">
              <a:buNone/>
            </a:pPr>
            <a:r>
              <a:rPr lang="en-US" sz="800" b="1" dirty="0">
                <a:solidFill>
                  <a:srgbClr val="FFFFFF"/>
                </a:solidFill>
              </a:rPr>
              <a:t>FE + BE</a:t>
            </a:r>
            <a:endParaRPr lang="en-US" sz="800" dirty="0"/>
          </a:p>
        </p:txBody>
      </p:sp>
      <p:sp>
        <p:nvSpPr>
          <p:cNvPr id="36" name="Text 28"/>
          <p:cNvSpPr/>
          <p:nvPr/>
        </p:nvSpPr>
        <p:spPr>
          <a:xfrm>
            <a:off x="5760720" y="2880360"/>
            <a:ext cx="2377440" cy="256032"/>
          </a:xfrm>
          <a:prstGeom prst="rect">
            <a:avLst/>
          </a:prstGeom>
          <a:noFill/>
          <a:ln/>
        </p:spPr>
        <p:txBody>
          <a:bodyPr wrap="square" lIns="0" tIns="0" rIns="0" bIns="0" rtlCol="0" anchor="ctr"/>
          <a:lstStyle/>
          <a:p>
            <a:pPr indent="0" marL="0">
              <a:buNone/>
            </a:pPr>
            <a:r>
              <a:rPr lang="en-US" sz="1000" b="1" dirty="0">
                <a:solidFill>
                  <a:srgbClr val="065A82"/>
                </a:solidFill>
              </a:rPr>
              <a:t>GU-Web-Dev-2024/fullstack-app-example</a:t>
            </a:r>
            <a:endParaRPr lang="en-US" sz="1000" dirty="0"/>
          </a:p>
        </p:txBody>
      </p:sp>
      <p:sp>
        <p:nvSpPr>
          <p:cNvPr id="37" name="Text 29"/>
          <p:cNvSpPr/>
          <p:nvPr/>
        </p:nvSpPr>
        <p:spPr>
          <a:xfrm>
            <a:off x="5349240" y="3227832"/>
            <a:ext cx="3383280" cy="420624"/>
          </a:xfrm>
          <a:prstGeom prst="rect">
            <a:avLst/>
          </a:prstGeom>
          <a:noFill/>
          <a:ln/>
        </p:spPr>
        <p:txBody>
          <a:bodyPr wrap="square" lIns="0" tIns="0" rIns="0" bIns="0" rtlCol="0" anchor="ctr"/>
          <a:lstStyle/>
          <a:p>
            <a:pPr indent="0" marL="0">
              <a:lnSpc>
                <a:spcPct val="125000"/>
              </a:lnSpc>
              <a:buNone/>
            </a:pPr>
            <a:r>
              <a:rPr lang="en-US" sz="1000" dirty="0">
                <a:solidFill>
                  <a:srgbClr val="1A2535"/>
                </a:solidFill>
              </a:rPr>
              <a:t>React FE + Express BE monorepo. Cấu trúc project chuẩn cho project kì này.</a:t>
            </a:r>
            <a:endParaRPr lang="en-US" sz="1000" dirty="0"/>
          </a:p>
        </p:txBody>
      </p:sp>
      <p:sp>
        <p:nvSpPr>
          <p:cNvPr id="38" name="Shape 30"/>
          <p:cNvSpPr/>
          <p:nvPr/>
        </p:nvSpPr>
        <p:spPr>
          <a:xfrm>
            <a:off x="5212080" y="3840480"/>
            <a:ext cx="3611880" cy="914400"/>
          </a:xfrm>
          <a:prstGeom prst="rect">
            <a:avLst/>
          </a:prstGeom>
          <a:solidFill>
            <a:srgbClr val="FFFFFF"/>
          </a:solidFill>
          <a:ln w="12700">
            <a:solidFill>
              <a:srgbClr val="D0DDE8"/>
            </a:solidFill>
            <a:prstDash val="solid"/>
          </a:ln>
          <a:effectLst>
            <a:outerShdw sx="100000" sy="100000" kx="0" ky="0" algn="bl" rotWithShape="0" blurRad="50800" dist="12700" dir="8100000">
              <a:srgbClr val="000000">
                <a:alpha val="7000"/>
              </a:srgbClr>
            </a:outerShdw>
          </a:effectLst>
        </p:spPr>
      </p:sp>
      <p:pic>
        <p:nvPicPr>
          <p:cNvPr id="39" name="Image 6" descr="preencoded.png">    </p:cNvPr>
          <p:cNvPicPr>
            <a:picLocks noChangeAspect="1"/>
          </p:cNvPicPr>
          <p:nvPr/>
        </p:nvPicPr>
        <p:blipFill>
          <a:blip r:embed="rId7"/>
          <a:stretch>
            <a:fillRect/>
          </a:stretch>
        </p:blipFill>
        <p:spPr>
          <a:xfrm>
            <a:off x="5349240" y="3950208"/>
            <a:ext cx="320040" cy="320040"/>
          </a:xfrm>
          <a:prstGeom prst="rect">
            <a:avLst/>
          </a:prstGeom>
        </p:spPr>
      </p:pic>
      <p:sp>
        <p:nvSpPr>
          <p:cNvPr id="40" name="Shape 31"/>
          <p:cNvSpPr/>
          <p:nvPr/>
        </p:nvSpPr>
        <p:spPr>
          <a:xfrm>
            <a:off x="8229600" y="3931920"/>
            <a:ext cx="548640" cy="219456"/>
          </a:xfrm>
          <a:prstGeom prst="rect">
            <a:avLst/>
          </a:prstGeom>
          <a:solidFill>
            <a:srgbClr val="065A82"/>
          </a:solidFill>
          <a:ln w="12700">
            <a:solidFill>
              <a:srgbClr val="065A82"/>
            </a:solidFill>
            <a:prstDash val="solid"/>
          </a:ln>
        </p:spPr>
      </p:sp>
      <p:sp>
        <p:nvSpPr>
          <p:cNvPr id="41" name="Text 32"/>
          <p:cNvSpPr/>
          <p:nvPr/>
        </p:nvSpPr>
        <p:spPr>
          <a:xfrm>
            <a:off x="8229600" y="3931920"/>
            <a:ext cx="548640" cy="219456"/>
          </a:xfrm>
          <a:prstGeom prst="rect">
            <a:avLst/>
          </a:prstGeom>
          <a:noFill/>
          <a:ln/>
        </p:spPr>
        <p:txBody>
          <a:bodyPr wrap="square" lIns="0" tIns="0" rIns="0" bIns="0" rtlCol="0" anchor="ctr"/>
          <a:lstStyle/>
          <a:p>
            <a:pPr algn="ctr" indent="0" marL="0">
              <a:buNone/>
            </a:pPr>
            <a:r>
              <a:rPr lang="en-US" sz="800" b="1" dirty="0">
                <a:solidFill>
                  <a:srgbClr val="FFFFFF"/>
                </a:solidFill>
              </a:rPr>
              <a:t>Demo</a:t>
            </a:r>
            <a:endParaRPr lang="en-US" sz="800" dirty="0"/>
          </a:p>
        </p:txBody>
      </p:sp>
      <p:sp>
        <p:nvSpPr>
          <p:cNvPr id="42" name="Text 33"/>
          <p:cNvSpPr/>
          <p:nvPr/>
        </p:nvSpPr>
        <p:spPr>
          <a:xfrm>
            <a:off x="5760720" y="3931920"/>
            <a:ext cx="2377440" cy="256032"/>
          </a:xfrm>
          <a:prstGeom prst="rect">
            <a:avLst/>
          </a:prstGeom>
          <a:noFill/>
          <a:ln/>
        </p:spPr>
        <p:txBody>
          <a:bodyPr wrap="square" lIns="0" tIns="0" rIns="0" bIns="0" rtlCol="0" anchor="ctr"/>
          <a:lstStyle/>
          <a:p>
            <a:pPr indent="0" marL="0">
              <a:buNone/>
            </a:pPr>
            <a:r>
              <a:rPr lang="en-US" sz="1000" b="1" dirty="0">
                <a:solidFill>
                  <a:srgbClr val="065A82"/>
                </a:solidFill>
              </a:rPr>
              <a:t>elze/vercel-express-react-demo</a:t>
            </a:r>
            <a:endParaRPr lang="en-US" sz="1000" dirty="0"/>
          </a:p>
        </p:txBody>
      </p:sp>
      <p:sp>
        <p:nvSpPr>
          <p:cNvPr id="43" name="Text 34"/>
          <p:cNvSpPr/>
          <p:nvPr/>
        </p:nvSpPr>
        <p:spPr>
          <a:xfrm>
            <a:off x="5349240" y="4279392"/>
            <a:ext cx="3383280" cy="420624"/>
          </a:xfrm>
          <a:prstGeom prst="rect">
            <a:avLst/>
          </a:prstGeom>
          <a:noFill/>
          <a:ln/>
        </p:spPr>
        <p:txBody>
          <a:bodyPr wrap="square" lIns="0" tIns="0" rIns="0" bIns="0" rtlCol="0" anchor="ctr"/>
          <a:lstStyle/>
          <a:p>
            <a:pPr indent="0" marL="0">
              <a:lnSpc>
                <a:spcPct val="125000"/>
              </a:lnSpc>
              <a:buNone/>
            </a:pPr>
            <a:r>
              <a:rPr lang="en-US" sz="1000" dirty="0">
                <a:solidFill>
                  <a:srgbClr val="1A2535"/>
                </a:solidFill>
              </a:rPr>
              <a:t>React + Express trên Vercel. Ví dụ đơn giản nhất để bắt đầu.</a:t>
            </a:r>
            <a:endParaRPr lang="en-US" sz="1000" dirty="0"/>
          </a:p>
        </p:txBody>
      </p:sp>
      <p:sp>
        <p:nvSpPr>
          <p:cNvPr id="44" name="Shape 35"/>
          <p:cNvSpPr/>
          <p:nvPr/>
        </p:nvSpPr>
        <p:spPr>
          <a:xfrm>
            <a:off x="365760" y="4617720"/>
            <a:ext cx="8412480" cy="384048"/>
          </a:xfrm>
          <a:prstGeom prst="rect">
            <a:avLst/>
          </a:prstGeom>
          <a:solidFill>
            <a:srgbClr val="0D1B2A"/>
          </a:solidFill>
          <a:ln w="12700">
            <a:solidFill>
              <a:srgbClr val="0D1B2A"/>
            </a:solidFill>
            <a:prstDash val="solid"/>
          </a:ln>
        </p:spPr>
      </p:sp>
      <p:pic>
        <p:nvPicPr>
          <p:cNvPr id="45" name="Image 7" descr="preencoded.png">    </p:cNvPr>
          <p:cNvPicPr>
            <a:picLocks noChangeAspect="1"/>
          </p:cNvPicPr>
          <p:nvPr/>
        </p:nvPicPr>
        <p:blipFill>
          <a:blip r:embed="rId8"/>
          <a:stretch>
            <a:fillRect/>
          </a:stretch>
        </p:blipFill>
        <p:spPr>
          <a:xfrm>
            <a:off x="502920" y="4681728"/>
            <a:ext cx="228600" cy="228600"/>
          </a:xfrm>
          <a:prstGeom prst="rect">
            <a:avLst/>
          </a:prstGeom>
        </p:spPr>
      </p:pic>
      <p:sp>
        <p:nvSpPr>
          <p:cNvPr id="46" name="Text 36"/>
          <p:cNvSpPr/>
          <p:nvPr/>
        </p:nvSpPr>
        <p:spPr>
          <a:xfrm>
            <a:off x="822960" y="4681728"/>
            <a:ext cx="7863840" cy="256032"/>
          </a:xfrm>
          <a:prstGeom prst="rect">
            <a:avLst/>
          </a:prstGeom>
          <a:noFill/>
          <a:ln/>
        </p:spPr>
        <p:txBody>
          <a:bodyPr wrap="square" lIns="0" tIns="0" rIns="0" bIns="0" rtlCol="0" anchor="ctr"/>
          <a:lstStyle/>
          <a:p>
            <a:pPr indent="0" marL="0">
              <a:buNone/>
            </a:pPr>
            <a:r>
              <a:rPr lang="en-US" sz="1100" dirty="0">
                <a:solidFill>
                  <a:srgbClr val="00C2CB"/>
                </a:solidFill>
              </a:rPr>
              <a:t>CV Tip: "Thiết lập CI/CD pipeline với GitHub Actions + Vercel/Render" → đây là điểm cộng mạnh với HR!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C2CB"/>
          </a:solidFill>
          <a:ln/>
        </p:spPr>
      </p:sp>
      <p:sp>
        <p:nvSpPr>
          <p:cNvPr id="3" name="Shape 1"/>
          <p:cNvSpPr/>
          <p:nvPr/>
        </p:nvSpPr>
        <p:spPr>
          <a:xfrm>
            <a:off x="6583680" y="3200400"/>
            <a:ext cx="3657600" cy="3657600"/>
          </a:xfrm>
          <a:prstGeom prst="ellipse">
            <a:avLst/>
          </a:prstGeom>
          <a:solidFill>
            <a:srgbClr val="1B2A3B"/>
          </a:solidFill>
          <a:ln w="12700">
            <a:solidFill>
              <a:srgbClr val="1B2A3B"/>
            </a:solidFill>
            <a:prstDash val="solid"/>
          </a:ln>
        </p:spPr>
      </p:sp>
      <p:sp>
        <p:nvSpPr>
          <p:cNvPr id="4" name="Shape 2"/>
          <p:cNvSpPr/>
          <p:nvPr/>
        </p:nvSpPr>
        <p:spPr>
          <a:xfrm>
            <a:off x="7315200" y="3657600"/>
            <a:ext cx="2286000" cy="2286000"/>
          </a:xfrm>
          <a:prstGeom prst="ellipse">
            <a:avLst/>
          </a:prstGeom>
          <a:solidFill>
            <a:srgbClr val="065A82"/>
          </a:solidFill>
          <a:ln w="12700">
            <a:solidFill>
              <a:srgbClr val="065A82"/>
            </a:solidFill>
            <a:prstDash val="solid"/>
          </a:ln>
        </p:spPr>
      </p:sp>
      <p:sp>
        <p:nvSpPr>
          <p:cNvPr id="5" name="Text 3"/>
          <p:cNvSpPr/>
          <p:nvPr/>
        </p:nvSpPr>
        <p:spPr>
          <a:xfrm>
            <a:off x="320040" y="548640"/>
            <a:ext cx="2743200" cy="1097280"/>
          </a:xfrm>
          <a:prstGeom prst="rect">
            <a:avLst/>
          </a:prstGeom>
          <a:noFill/>
          <a:ln/>
        </p:spPr>
        <p:txBody>
          <a:bodyPr wrap="square" lIns="0" tIns="0" rIns="0" bIns="0" rtlCol="0" anchor="ctr"/>
          <a:lstStyle/>
          <a:p>
            <a:pPr indent="0" marL="0">
              <a:buNone/>
            </a:pPr>
            <a:r>
              <a:rPr lang="en-US" sz="7200" b="1" dirty="0">
                <a:solidFill>
                  <a:srgbClr val="00C2CB"/>
                </a:solidFill>
              </a:rPr>
              <a:t>Q&amp;A</a:t>
            </a:r>
            <a:endParaRPr lang="en-US" sz="7200" dirty="0"/>
          </a:p>
        </p:txBody>
      </p:sp>
      <p:sp>
        <p:nvSpPr>
          <p:cNvPr id="6" name="Text 4"/>
          <p:cNvSpPr/>
          <p:nvPr/>
        </p:nvSpPr>
        <p:spPr>
          <a:xfrm>
            <a:off x="320040" y="1600200"/>
            <a:ext cx="6400800" cy="502920"/>
          </a:xfrm>
          <a:prstGeom prst="rect">
            <a:avLst/>
          </a:prstGeom>
          <a:noFill/>
          <a:ln/>
        </p:spPr>
        <p:txBody>
          <a:bodyPr wrap="square" lIns="0" tIns="0" rIns="0" bIns="0" rtlCol="0" anchor="ctr"/>
          <a:lstStyle/>
          <a:p>
            <a:pPr indent="0" marL="0">
              <a:buNone/>
            </a:pPr>
            <a:r>
              <a:rPr lang="en-US" sz="2600" b="1" dirty="0">
                <a:solidFill>
                  <a:srgbClr val="FFFFFF"/>
                </a:solidFill>
              </a:rPr>
              <a:t>Câu hỏi của các bạn?</a:t>
            </a:r>
            <a:endParaRPr lang="en-US" sz="2600" dirty="0"/>
          </a:p>
        </p:txBody>
      </p:sp>
      <p:sp>
        <p:nvSpPr>
          <p:cNvPr id="7" name="Text 5"/>
          <p:cNvSpPr/>
          <p:nvPr/>
        </p:nvSpPr>
        <p:spPr>
          <a:xfrm>
            <a:off x="320040" y="2286000"/>
            <a:ext cx="6400800" cy="320040"/>
          </a:xfrm>
          <a:prstGeom prst="rect">
            <a:avLst/>
          </a:prstGeom>
          <a:noFill/>
          <a:ln/>
        </p:spPr>
        <p:txBody>
          <a:bodyPr wrap="square" lIns="0" tIns="0" rIns="0" bIns="0" rtlCol="0" anchor="ctr"/>
          <a:lstStyle/>
          <a:p>
            <a:pPr indent="0" marL="0">
              <a:buNone/>
            </a:pPr>
            <a:r>
              <a:rPr lang="en-US" sz="1300" dirty="0">
                <a:solidFill>
                  <a:srgbClr val="00C2CB"/>
                </a:solidFill>
              </a:rPr>
              <a:t>Hôm nay chúng ta đã học được:</a:t>
            </a:r>
            <a:endParaRPr lang="en-US" sz="1300" dirty="0"/>
          </a:p>
        </p:txBody>
      </p:sp>
      <p:pic>
        <p:nvPicPr>
          <p:cNvPr id="8" name="Image 0" descr="preencoded.png">    </p:cNvPr>
          <p:cNvPicPr>
            <a:picLocks noChangeAspect="1"/>
          </p:cNvPicPr>
          <p:nvPr/>
        </p:nvPicPr>
        <p:blipFill>
          <a:blip r:embed="rId1"/>
          <a:stretch>
            <a:fillRect/>
          </a:stretch>
        </p:blipFill>
        <p:spPr>
          <a:xfrm>
            <a:off x="320040" y="2715768"/>
            <a:ext cx="246888" cy="246888"/>
          </a:xfrm>
          <a:prstGeom prst="rect">
            <a:avLst/>
          </a:prstGeom>
        </p:spPr>
      </p:pic>
      <p:sp>
        <p:nvSpPr>
          <p:cNvPr id="9" name="Text 6"/>
          <p:cNvSpPr/>
          <p:nvPr/>
        </p:nvSpPr>
        <p:spPr>
          <a:xfrm>
            <a:off x="658368" y="2724912"/>
            <a:ext cx="5760720" cy="246888"/>
          </a:xfrm>
          <a:prstGeom prst="rect">
            <a:avLst/>
          </a:prstGeom>
          <a:noFill/>
          <a:ln/>
        </p:spPr>
        <p:txBody>
          <a:bodyPr wrap="square" lIns="0" tIns="0" rIns="0" bIns="0" rtlCol="0" anchor="ctr"/>
          <a:lstStyle/>
          <a:p>
            <a:pPr indent="0" marL="0">
              <a:buNone/>
            </a:pPr>
            <a:r>
              <a:rPr lang="en-US" sz="1300" dirty="0">
                <a:solidFill>
                  <a:srgbClr val="FFFFFF"/>
                </a:solidFill>
              </a:rPr>
              <a:t>DevOps là văn hóa, CI/CD là vòng lặp tự động hóa</a:t>
            </a:r>
            <a:endParaRPr lang="en-US" sz="1300" dirty="0"/>
          </a:p>
        </p:txBody>
      </p:sp>
      <p:pic>
        <p:nvPicPr>
          <p:cNvPr id="10" name="Image 1" descr="preencoded.png">    </p:cNvPr>
          <p:cNvPicPr>
            <a:picLocks noChangeAspect="1"/>
          </p:cNvPicPr>
          <p:nvPr/>
        </p:nvPicPr>
        <p:blipFill>
          <a:blip r:embed="rId2"/>
          <a:stretch>
            <a:fillRect/>
          </a:stretch>
        </p:blipFill>
        <p:spPr>
          <a:xfrm>
            <a:off x="320040" y="3145536"/>
            <a:ext cx="246888" cy="246888"/>
          </a:xfrm>
          <a:prstGeom prst="rect">
            <a:avLst/>
          </a:prstGeom>
        </p:spPr>
      </p:pic>
      <p:sp>
        <p:nvSpPr>
          <p:cNvPr id="11" name="Text 7"/>
          <p:cNvSpPr/>
          <p:nvPr/>
        </p:nvSpPr>
        <p:spPr>
          <a:xfrm>
            <a:off x="658368" y="3154680"/>
            <a:ext cx="5760720" cy="246888"/>
          </a:xfrm>
          <a:prstGeom prst="rect">
            <a:avLst/>
          </a:prstGeom>
          <a:noFill/>
          <a:ln/>
        </p:spPr>
        <p:txBody>
          <a:bodyPr wrap="square" lIns="0" tIns="0" rIns="0" bIns="0" rtlCol="0" anchor="ctr"/>
          <a:lstStyle/>
          <a:p>
            <a:pPr indent="0" marL="0">
              <a:buNone/>
            </a:pPr>
            <a:r>
              <a:rPr lang="en-US" sz="1300" dirty="0">
                <a:solidFill>
                  <a:srgbClr val="FFFFFF"/>
                </a:solidFill>
              </a:rPr>
              <a:t>GitHub Actions: workflow → job → step — YAML thực tế</a:t>
            </a:r>
            <a:endParaRPr lang="en-US" sz="1300" dirty="0"/>
          </a:p>
        </p:txBody>
      </p:sp>
      <p:pic>
        <p:nvPicPr>
          <p:cNvPr id="12" name="Image 2" descr="preencoded.png">    </p:cNvPr>
          <p:cNvPicPr>
            <a:picLocks noChangeAspect="1"/>
          </p:cNvPicPr>
          <p:nvPr/>
        </p:nvPicPr>
        <p:blipFill>
          <a:blip r:embed="rId3"/>
          <a:stretch>
            <a:fillRect/>
          </a:stretch>
        </p:blipFill>
        <p:spPr>
          <a:xfrm>
            <a:off x="320040" y="3575304"/>
            <a:ext cx="246888" cy="246888"/>
          </a:xfrm>
          <a:prstGeom prst="rect">
            <a:avLst/>
          </a:prstGeom>
        </p:spPr>
      </p:pic>
      <p:sp>
        <p:nvSpPr>
          <p:cNvPr id="13" name="Text 8"/>
          <p:cNvSpPr/>
          <p:nvPr/>
        </p:nvSpPr>
        <p:spPr>
          <a:xfrm>
            <a:off x="658368" y="3584448"/>
            <a:ext cx="5760720" cy="246888"/>
          </a:xfrm>
          <a:prstGeom prst="rect">
            <a:avLst/>
          </a:prstGeom>
          <a:noFill/>
          <a:ln/>
        </p:spPr>
        <p:txBody>
          <a:bodyPr wrap="square" lIns="0" tIns="0" rIns="0" bIns="0" rtlCol="0" anchor="ctr"/>
          <a:lstStyle/>
          <a:p>
            <a:pPr indent="0" marL="0">
              <a:buNone/>
            </a:pPr>
            <a:r>
              <a:rPr lang="en-US" sz="1300" dirty="0">
                <a:solidFill>
                  <a:srgbClr val="FFFFFF"/>
                </a:solidFill>
              </a:rPr>
              <a:t>Deploy FE với Vercel, BE với Render Deploy Hook</a:t>
            </a:r>
            <a:endParaRPr lang="en-US" sz="1300" dirty="0"/>
          </a:p>
        </p:txBody>
      </p:sp>
      <p:pic>
        <p:nvPicPr>
          <p:cNvPr id="14" name="Image 3" descr="preencoded.png">    </p:cNvPr>
          <p:cNvPicPr>
            <a:picLocks noChangeAspect="1"/>
          </p:cNvPicPr>
          <p:nvPr/>
        </p:nvPicPr>
        <p:blipFill>
          <a:blip r:embed="rId4"/>
          <a:stretch>
            <a:fillRect/>
          </a:stretch>
        </p:blipFill>
        <p:spPr>
          <a:xfrm>
            <a:off x="320040" y="4005072"/>
            <a:ext cx="246888" cy="246888"/>
          </a:xfrm>
          <a:prstGeom prst="rect">
            <a:avLst/>
          </a:prstGeom>
        </p:spPr>
      </p:pic>
      <p:sp>
        <p:nvSpPr>
          <p:cNvPr id="15" name="Text 9"/>
          <p:cNvSpPr/>
          <p:nvPr/>
        </p:nvSpPr>
        <p:spPr>
          <a:xfrm>
            <a:off x="658368" y="4014216"/>
            <a:ext cx="5760720" cy="246888"/>
          </a:xfrm>
          <a:prstGeom prst="rect">
            <a:avLst/>
          </a:prstGeom>
          <a:noFill/>
          <a:ln/>
        </p:spPr>
        <p:txBody>
          <a:bodyPr wrap="square" lIns="0" tIns="0" rIns="0" bIns="0" rtlCol="0" anchor="ctr"/>
          <a:lstStyle/>
          <a:p>
            <a:pPr indent="0" marL="0">
              <a:buNone/>
            </a:pPr>
            <a:r>
              <a:rPr lang="en-US" sz="1300" dirty="0">
                <a:solidFill>
                  <a:srgbClr val="FFFFFF"/>
                </a:solidFill>
              </a:rPr>
              <a:t>AI giúp sinh YAML, debug logs, và scan security</a:t>
            </a:r>
            <a:endParaRPr lang="en-US" sz="1300" dirty="0"/>
          </a:p>
        </p:txBody>
      </p:sp>
      <p:sp>
        <p:nvSpPr>
          <p:cNvPr id="16" name="Shape 10"/>
          <p:cNvSpPr/>
          <p:nvPr/>
        </p:nvSpPr>
        <p:spPr>
          <a:xfrm>
            <a:off x="320040" y="4526280"/>
            <a:ext cx="8503920" cy="475488"/>
          </a:xfrm>
          <a:prstGeom prst="rect">
            <a:avLst/>
          </a:prstGeom>
          <a:solidFill>
            <a:srgbClr val="1B2A3B"/>
          </a:solidFill>
          <a:ln w="12700">
            <a:solidFill>
              <a:srgbClr val="2A4060"/>
            </a:solidFill>
            <a:prstDash val="solid"/>
          </a:ln>
        </p:spPr>
      </p:sp>
      <p:sp>
        <p:nvSpPr>
          <p:cNvPr id="17" name="Text 11"/>
          <p:cNvSpPr/>
          <p:nvPr/>
        </p:nvSpPr>
        <p:spPr>
          <a:xfrm>
            <a:off x="457200" y="4626864"/>
            <a:ext cx="8321040" cy="256032"/>
          </a:xfrm>
          <a:prstGeom prst="rect">
            <a:avLst/>
          </a:prstGeom>
          <a:noFill/>
          <a:ln/>
        </p:spPr>
        <p:txBody>
          <a:bodyPr wrap="square" lIns="0" tIns="0" rIns="0" bIns="0" rtlCol="0" anchor="ctr"/>
          <a:lstStyle/>
          <a:p>
            <a:pPr algn="ctr" indent="0" marL="0">
              <a:buNone/>
            </a:pPr>
            <a:r>
              <a:rPr lang="en-US" sz="1000" dirty="0">
                <a:solidFill>
                  <a:srgbClr val="00C2CB"/>
                </a:solidFill>
              </a:rPr>
              <a:t>🔗 github.com/prashant1879/ci-cd-nodejs-pineline-github-with-vercel   ·   docs.github.com/actions   ·   render.com/docs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AI-Enhanced CI/CD &amp; DevOps with GitHub Actions</dc:title>
  <dc:subject>PptxGenJS Presentation</dc:subject>
  <dc:creator>Webinar Speaker</dc:creator>
  <cp:lastModifiedBy>Webinar Speaker</cp:lastModifiedBy>
  <cp:revision>1</cp:revision>
  <dcterms:created xsi:type="dcterms:W3CDTF">2026-05-18T02:38:47Z</dcterms:created>
  <dcterms:modified xsi:type="dcterms:W3CDTF">2026-05-18T02:38:47Z</dcterms:modified>
</cp:coreProperties>
</file>